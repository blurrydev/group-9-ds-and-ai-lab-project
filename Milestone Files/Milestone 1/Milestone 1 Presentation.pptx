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2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149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we are building a query-aware prompt compressor for Hindi RAG pipelines. State the two headline numbers -- 2x-5x compression and 1.5x+ latency speedup -- and hand off to the next speaker for the 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two failure modes that motivate the project: (1) morphological destruction when English-trained compressors are applied to Hindi, and (2) task-agnostic information loss where the compressor ignores the user's query and drops the facts needed to answer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what's in and out of scope: Hindi-only for phase one, extractive compression only, integrated into LangChain. Then walk through the three measurable objectives -- compression ratio, accuracy parity, and latency speedup -- which will structure our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table left to right: LLMLingua is task-aware but slow; LLMLingua-2 is fast but ignores the query and only works on English; IndicQA gives us Hindi data but no compression method. Our approach is the only one that is query-aware, Hindi-ready,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pipeline: the question and context are fed together into the encoder using the [CLS] Question [SEP] Context [SEP] format, so bidirectional self-attention lets every context token attend to the query. Preservation scores are query-conditioned, not task-agnostic. The encoder is fine-tuned on distilled Hindi data so it preserves grammatical integrity instead of fragmenting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deck with the evaluation plan: we compare against an uncompressed RAG pipeline and zero-shot LLMLingua-2 on Hindi, scoring on EM/F1 for answer quality, compression ratio for efficiency, and end-to-end latency for speed. Reiterate stakeholders who benefit -- end users, AI engineers, and evaluators.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mailto:21f1003868@ds.study.iitm.ac.in" TargetMode="External"/><Relationship Id="rId3" Type="http://schemas.openxmlformats.org/officeDocument/2006/relationships/hyperlink" Target="mailto:21f1003070@ds.study.iitm.ac.in" TargetMode="External"/><Relationship Id="rId7" Type="http://schemas.openxmlformats.org/officeDocument/2006/relationships/hyperlink" Target="mailto:22f2001256@ds.study.iitm.ac.i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22f2001255@ds.study.iitm.ac.in" TargetMode="External"/><Relationship Id="rId5" Type="http://schemas.openxmlformats.org/officeDocument/2006/relationships/hyperlink" Target="mailto:21f1002807@ds.study.iitm.ac.in" TargetMode="External"/><Relationship Id="rId4" Type="http://schemas.openxmlformats.org/officeDocument/2006/relationships/hyperlink" Target="mailto:21f1002300@ds.study.iitm.ac.i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63075C-973A-B259-B9B0-A3230A785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168" y="159305"/>
            <a:ext cx="2143125" cy="21431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0B4511-726A-1709-1C21-E6DBE4A11FDD}"/>
              </a:ext>
            </a:extLst>
          </p:cNvPr>
          <p:cNvSpPr txBox="1"/>
          <p:nvPr/>
        </p:nvSpPr>
        <p:spPr>
          <a:xfrm>
            <a:off x="2780607" y="2504728"/>
            <a:ext cx="663078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Rounded MT Bold" panose="020F0704030504030204" pitchFamily="34" charset="0"/>
              </a:rPr>
              <a:t> 	  Data Science AI Lab Project Group 9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r>
              <a:rPr lang="en-IN" dirty="0"/>
              <a:t>SOUMYABRATA MAHAPATRA	</a:t>
            </a:r>
            <a:r>
              <a:rPr lang="en-IN" dirty="0">
                <a:hlinkClick r:id="rId3"/>
              </a:rPr>
              <a:t>21f1003070@ds.study.iitm.ac.in</a:t>
            </a:r>
            <a:endParaRPr lang="en-IN" dirty="0"/>
          </a:p>
          <a:p>
            <a:r>
              <a:rPr lang="en-IN" dirty="0"/>
              <a:t>D CHIRAG RAO		</a:t>
            </a:r>
            <a:r>
              <a:rPr lang="en-IN" dirty="0">
                <a:hlinkClick r:id="rId4"/>
              </a:rPr>
              <a:t>21f1002300@ds.study.iitm.ac.in</a:t>
            </a:r>
            <a:endParaRPr lang="en-IN" dirty="0"/>
          </a:p>
          <a:p>
            <a:r>
              <a:rPr lang="en-IN" dirty="0"/>
              <a:t>ANURAG MONDAL		</a:t>
            </a:r>
            <a:r>
              <a:rPr lang="en-IN" dirty="0">
                <a:hlinkClick r:id="rId5"/>
              </a:rPr>
              <a:t>21f1002807@ds.study.iitm.ac.in</a:t>
            </a:r>
            <a:endParaRPr lang="en-IN" dirty="0"/>
          </a:p>
          <a:p>
            <a:r>
              <a:rPr lang="en-IN" dirty="0"/>
              <a:t>HITESH BINJRAWAT		</a:t>
            </a:r>
            <a:r>
              <a:rPr lang="en-IN" dirty="0">
                <a:hlinkClick r:id="rId6"/>
              </a:rPr>
              <a:t>22f2001255@ds.study.iitm.ac.in</a:t>
            </a:r>
            <a:endParaRPr lang="en-IN" dirty="0"/>
          </a:p>
          <a:p>
            <a:r>
              <a:rPr lang="en-IN" dirty="0"/>
              <a:t>HITESH			</a:t>
            </a:r>
            <a:r>
              <a:rPr lang="en-IN" dirty="0">
                <a:hlinkClick r:id="rId7"/>
              </a:rPr>
              <a:t>22f2001256@ds.study.iitm.ac.in</a:t>
            </a:r>
            <a:endParaRPr lang="en-IN" dirty="0"/>
          </a:p>
          <a:p>
            <a:r>
              <a:rPr lang="en-IN" dirty="0"/>
              <a:t>BHAVYA JAIN		</a:t>
            </a:r>
            <a:r>
              <a:rPr lang="en-IN" dirty="0">
                <a:hlinkClick r:id="rId8"/>
              </a:rPr>
              <a:t>21f1003868@ds.study.iitm.ac.in</a:t>
            </a:r>
            <a:endParaRPr lang="en-IN" dirty="0"/>
          </a:p>
          <a:p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969481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2E356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2E3566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0" y="548640"/>
            <a:ext cx="1463040" cy="1463040"/>
          </a:xfrm>
          <a:prstGeom prst="ellipse">
            <a:avLst/>
          </a:prstGeom>
          <a:solidFill>
            <a:srgbClr val="E8862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4C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Query-Aware Prompt Compression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4C7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Efficient Hindi RAG Pipelines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morphological destruction and task-agnostic information loss in regional-language Retrieval-Augmented Generation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2x–5x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4663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1.5x+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08960" y="5212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speedup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577840" y="4663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577840" y="5212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(IndicQA)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48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Demonstration  |  RAG · NLP · Indic Languages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RAG contexts are costly and slow. Compressors like LLMLingua-2 help — but break down for Hindi.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1663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65960"/>
            <a:ext cx="5166360" cy="822960"/>
          </a:xfrm>
          <a:prstGeom prst="rect">
            <a:avLst/>
          </a:prstGeom>
          <a:solidFill>
            <a:srgbClr val="1B1F3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E8862A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225856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9659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Morphological Destruction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3017520"/>
            <a:ext cx="4526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Compressors trained only on English corpora don't understand Hindi's rich morphology. Token classification arbitrarily fragments words and destroys grammatical integrity in Devanagari and code-switched text.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68680" y="5303520"/>
            <a:ext cx="4526280" cy="502920"/>
          </a:xfrm>
          <a:prstGeom prst="roundRect">
            <a:avLst>
              <a:gd name="adj" fmla="val 14545"/>
            </a:avLst>
          </a:prstGeom>
          <a:solidFill>
            <a:srgbClr val="F1F1F8"/>
          </a:solidFill>
          <a:ln/>
        </p:spPr>
      </p:sp>
      <p:sp>
        <p:nvSpPr>
          <p:cNvPr id="12" name="Text 9"/>
          <p:cNvSpPr/>
          <p:nvPr/>
        </p:nvSpPr>
        <p:spPr>
          <a:xfrm>
            <a:off x="1051560" y="5303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English-only training data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80760" y="1965960"/>
            <a:ext cx="51663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080760" y="1965960"/>
            <a:ext cx="5166360" cy="822960"/>
          </a:xfrm>
          <a:prstGeom prst="rect">
            <a:avLst/>
          </a:prstGeom>
          <a:solidFill>
            <a:srgbClr val="1B1F3B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0" y="2148840"/>
            <a:ext cx="457200" cy="457200"/>
          </a:xfrm>
          <a:prstGeom prst="ellipse">
            <a:avLst/>
          </a:prstGeom>
          <a:solidFill>
            <a:srgbClr val="E8862A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2258568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040880" y="19659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Task-Agnostic Information Loss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6400800" y="3017520"/>
            <a:ext cx="4526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token classifiers score preservation independent of the user's query. In RAG, this trims context blindly — frequently dropping the exact facts needed to answer the question.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400800" y="5303520"/>
            <a:ext cx="4526280" cy="502920"/>
          </a:xfrm>
          <a:prstGeom prst="roundRect">
            <a:avLst>
              <a:gd name="adj" fmla="val 14545"/>
            </a:avLst>
          </a:prstGeom>
          <a:solidFill>
            <a:srgbClr val="F1F1F8"/>
          </a:solidFill>
          <a:ln/>
        </p:spPr>
      </p:sp>
      <p:sp>
        <p:nvSpPr>
          <p:cNvPr id="20" name="Text 16"/>
          <p:cNvSpPr/>
          <p:nvPr/>
        </p:nvSpPr>
        <p:spPr>
          <a:xfrm>
            <a:off x="6583680" y="53035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No query awareness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AF7F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10512"/>
            <a:ext cx="384048" cy="384048"/>
          </a:xfrm>
          <a:prstGeom prst="ellipse">
            <a:avLst/>
          </a:prstGeom>
          <a:solidFill>
            <a:srgbClr val="3FA79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2" y="1902684"/>
            <a:ext cx="199705" cy="1997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755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Scope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33172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0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subset of IndicQA benchmark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0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extractive token-classification dataset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0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XLM-RoBERTa-large / mBERT, query-aware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0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into a LangChain RAG pipeline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FBEDEB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4270248"/>
            <a:ext cx="365760" cy="365760"/>
          </a:xfrm>
          <a:prstGeom prst="ellipse">
            <a:avLst/>
          </a:prstGeom>
          <a:solidFill>
            <a:srgbClr val="C1443A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" y="4358030"/>
            <a:ext cx="190195" cy="1901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53312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Scope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68680" y="4782312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10 IndicQA languages (future work)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/ generative compression (hallucination risk)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(image/video) prompt compression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309360" y="150876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309360" y="1965960"/>
            <a:ext cx="5349240" cy="1207008"/>
          </a:xfrm>
          <a:prstGeom prst="roundRect">
            <a:avLst>
              <a:gd name="adj" fmla="val 7576"/>
            </a:avLst>
          </a:prstGeom>
          <a:solidFill>
            <a:srgbClr val="1B1F3B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65392" y="2295144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066" y="2426818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360920" y="20756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2x–5x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7360920" y="255117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compression ratio on Hindi RAG contexts, without corrupting native script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309360" y="3319272"/>
            <a:ext cx="5349240" cy="1207008"/>
          </a:xfrm>
          <a:prstGeom prst="roundRect">
            <a:avLst>
              <a:gd name="adj" fmla="val 7576"/>
            </a:avLst>
          </a:prstGeom>
          <a:solidFill>
            <a:srgbClr val="3FA796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65392" y="3648456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7066" y="3780130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60920" y="34290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/ F1</a:t>
            </a:r>
            <a:endParaRPr lang="en-US" sz="2000" dirty="0"/>
          </a:p>
        </p:txBody>
      </p:sp>
      <p:sp>
        <p:nvSpPr>
          <p:cNvPr id="24" name="Text 18"/>
          <p:cNvSpPr/>
          <p:nvPr/>
        </p:nvSpPr>
        <p:spPr>
          <a:xfrm>
            <a:off x="7360920" y="390448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or improve accuracy vs. uncompressed baseline on IndicQA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09360" y="4672584"/>
            <a:ext cx="5349240" cy="1207008"/>
          </a:xfrm>
          <a:prstGeom prst="roundRect">
            <a:avLst>
              <a:gd name="adj" fmla="val 7576"/>
            </a:avLst>
          </a:prstGeom>
          <a:solidFill>
            <a:srgbClr val="E8862A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565392" y="500176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7066" y="5133442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360920" y="478231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1.5x+</a:t>
            </a:r>
            <a:endParaRPr lang="en-US" sz="2000" dirty="0"/>
          </a:p>
        </p:txBody>
      </p:sp>
      <p:sp>
        <p:nvSpPr>
          <p:cNvPr id="29" name="Text 22"/>
          <p:cNvSpPr/>
          <p:nvPr/>
        </p:nvSpPr>
        <p:spPr>
          <a:xfrm>
            <a:off x="7360920" y="52578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2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RAG inference speedup, offsetting classifier overhead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Existing Work Falls Short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36576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Query-Aware?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Hindi-Ready?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Speed</a:t>
                      </a:r>
                      <a:endParaRPr lang="en-US" sz="12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LLMLingua</a:t>
                      </a:r>
                      <a:endParaRPr lang="en-US" sz="1150" dirty="0"/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(Jiang et al. 2023)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Causal SLM, entropy/perplexity-based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8862A"/>
                          </a:solidFill>
                        </a:rPr>
                        <a:t>Partial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144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1443A"/>
                          </a:solidFill>
                        </a:rPr>
                        <a:t>Slow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LLMLingua-2</a:t>
                      </a:r>
                      <a:endParaRPr lang="en-US" sz="1150" dirty="0"/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(Pan et al. 2024)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Token classification, bidirectional encoder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1443A"/>
                          </a:solidFill>
                        </a:rPr>
                        <a:t>No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1443A"/>
                          </a:solidFill>
                        </a:rPr>
                        <a:t>No (English-only)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FA796"/>
                          </a:solidFill>
                        </a:rPr>
                        <a:t>Fast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IndicQA Benchmark</a:t>
                      </a:r>
                      <a:endParaRPr lang="en-US" sz="1150" dirty="0"/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(Singh et al. 2024)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A2E4A"/>
                          </a:solidFill>
                        </a:rPr>
                        <a:t>11-language Indic QA evaluation suite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5B5F7B"/>
                          </a:solidFill>
                        </a:rPr>
                        <a:t>N/A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FA796"/>
                          </a:solidFill>
                        </a:rPr>
                        <a:t>Yes (data only)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5B5F7B"/>
                          </a:solidFill>
                        </a:rPr>
                        <a:t>N/A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Our Approach</a:t>
                      </a:r>
                      <a:endParaRPr lang="en-US" sz="120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A7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</a:rPr>
                        <a:t>Query-aware token classification, fine-tuned on Hindi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A7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A7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A7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Fast</a:t>
                      </a:r>
                      <a:endParaRPr lang="en-US" sz="1150" dirty="0"/>
                    </a:p>
                  </a:txBody>
                  <a:tcPr anchor="ctr">
                    <a:lnL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A7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LLMLingua-2 is fast but task-agnostic and English-centric — the exact two gaps this project closes.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4C7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Approach: Query-Aware Compression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 the input so the encoder weighs every context token directly against the user's question.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2E3566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423160"/>
            <a:ext cx="640080" cy="640080"/>
          </a:xfrm>
          <a:prstGeom prst="ellipse">
            <a:avLst/>
          </a:prstGeom>
          <a:solidFill>
            <a:srgbClr val="3FA796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659" y="2576779"/>
            <a:ext cx="332842" cy="3328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315468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3566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[CLS] Question [SEP] Context [SEP]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017520" y="28803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8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337560" y="219456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2E3566"/>
          </a:solidFill>
          <a:ln/>
        </p:spPr>
      </p:sp>
      <p:sp>
        <p:nvSpPr>
          <p:cNvPr id="12" name="Shape 9"/>
          <p:cNvSpPr/>
          <p:nvPr/>
        </p:nvSpPr>
        <p:spPr>
          <a:xfrm>
            <a:off x="4251960" y="2423160"/>
            <a:ext cx="640080" cy="640080"/>
          </a:xfrm>
          <a:prstGeom prst="ellipse">
            <a:avLst/>
          </a:prstGeom>
          <a:solidFill>
            <a:srgbClr val="E8862A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5579" y="257677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47288" y="315468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Cross-Lingual Encoder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474720" y="3566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XLM-R-large / mBERT, bidirectional attention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806440" y="28803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8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26480" y="219456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2E3566"/>
          </a:solidFill>
          <a:ln/>
        </p:spPr>
      </p:sp>
      <p:sp>
        <p:nvSpPr>
          <p:cNvPr id="18" name="Shape 14"/>
          <p:cNvSpPr/>
          <p:nvPr/>
        </p:nvSpPr>
        <p:spPr>
          <a:xfrm>
            <a:off x="7040880" y="2423160"/>
            <a:ext cx="640080" cy="640080"/>
          </a:xfrm>
          <a:prstGeom prst="ellipse">
            <a:avLst/>
          </a:prstGeom>
          <a:solidFill>
            <a:srgbClr val="3FA796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4499" y="2576779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36208" y="315468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Query-Aware Scoring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263640" y="3566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Preserve/discard weighted against the query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595360" y="28803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86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8915400" y="2194560"/>
            <a:ext cx="2468880" cy="1920240"/>
          </a:xfrm>
          <a:prstGeom prst="roundRect">
            <a:avLst>
              <a:gd name="adj" fmla="val 4762"/>
            </a:avLst>
          </a:prstGeom>
          <a:solidFill>
            <a:srgbClr val="2E3566"/>
          </a:solidFill>
          <a:ln/>
        </p:spPr>
      </p:sp>
      <p:sp>
        <p:nvSpPr>
          <p:cNvPr id="24" name="Shape 19"/>
          <p:cNvSpPr/>
          <p:nvPr/>
        </p:nvSpPr>
        <p:spPr>
          <a:xfrm>
            <a:off x="9829800" y="2423160"/>
            <a:ext cx="640080" cy="640080"/>
          </a:xfrm>
          <a:prstGeom prst="ellipse">
            <a:avLst/>
          </a:prstGeom>
          <a:solidFill>
            <a:srgbClr val="E8862A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3419" y="257677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025128" y="315468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Compressed Prompt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9052560" y="3566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C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2x–5x shorter, Hindi-intact, query-relevant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Differentiators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548640" y="4892040"/>
            <a:ext cx="310896" cy="310896"/>
          </a:xfrm>
          <a:prstGeom prst="ellipse">
            <a:avLst/>
          </a:prstGeom>
          <a:solidFill>
            <a:srgbClr val="3FA796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255" y="4966655"/>
            <a:ext cx="161666" cy="16166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51560" y="4846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query-awareness baked into bidirectional self-attention (not post-hoc filtering)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48640" y="5486400"/>
            <a:ext cx="310896" cy="310896"/>
          </a:xfrm>
          <a:prstGeom prst="ellipse">
            <a:avLst/>
          </a:prstGeom>
          <a:solidFill>
            <a:srgbClr val="3FA796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255" y="5561015"/>
            <a:ext cx="161666" cy="16166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51560" y="54406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distilled Hindi IndicQA data to preserve native morphology and grammar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86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Plan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we'll prove the compressor works — against real baselines, on real metrics.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12080" cy="4709160"/>
          </a:xfrm>
          <a:prstGeom prst="roundRect">
            <a:avLst>
              <a:gd name="adj" fmla="val 2222"/>
            </a:avLst>
          </a:prstGeom>
          <a:solidFill>
            <a:srgbClr val="F1F1F8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1671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0756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for Comparison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" y="2788920"/>
            <a:ext cx="292608" cy="29260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743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Uncompressed RAG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325880" y="31089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pipeline with full context on a frontier LLM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8680" y="3749040"/>
            <a:ext cx="292608" cy="29260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325880" y="3703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LLMLingua-2 (zero-shot)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325880" y="4069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Hindi despite English-only training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22960" y="4709160"/>
            <a:ext cx="4663440" cy="9144"/>
          </a:xfrm>
          <a:prstGeom prst="rect">
            <a:avLst/>
          </a:prstGeom>
          <a:solidFill>
            <a:srgbClr val="D8DAE8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4892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2960" y="53035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end-users &amp; regional support bots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56509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engineers optimizing RAG latency &amp; cost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22960" y="599846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evaluators assessing technical rigor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080760" y="17830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080760" y="2286000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309360" y="2532888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034" y="2664562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04088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7040880" y="2788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(EM) &amp; ROUGE/F1 vs. IndicQA ground truth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80760" y="3493008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309360" y="3739896"/>
            <a:ext cx="548640" cy="548640"/>
          </a:xfrm>
          <a:prstGeom prst="ellipse">
            <a:avLst/>
          </a:prstGeom>
          <a:solidFill>
            <a:srgbClr val="E8862A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1034" y="3871570"/>
            <a:ext cx="285293" cy="285293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040880" y="36301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7040880" y="39959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tokens ÷ compressed tokens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6080760" y="4700016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309360" y="4946904"/>
            <a:ext cx="548640" cy="548640"/>
          </a:xfrm>
          <a:prstGeom prst="ellipse">
            <a:avLst/>
          </a:prstGeom>
          <a:solidFill>
            <a:srgbClr val="1B1F3B"/>
          </a:solidFill>
          <a:ln/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034" y="5078578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040880" y="483717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7040880" y="52029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5F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per query, full RAG pipeline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941</Words>
  <Application>Microsoft Office PowerPoint</Application>
  <PresentationFormat>Widescreen</PresentationFormat>
  <Paragraphs>130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Rounded MT Bold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Query-Aware Prompt Compression for Hindi RAG Pipelines</dc:title>
  <dc:subject>PptxGenJS Presentation</dc:subject>
  <dc:creator>Project Team</dc:creator>
  <cp:lastModifiedBy>Hitesh Binjrawat</cp:lastModifiedBy>
  <cp:revision>3</cp:revision>
  <dcterms:created xsi:type="dcterms:W3CDTF">2026-07-02T16:47:02Z</dcterms:created>
  <dcterms:modified xsi:type="dcterms:W3CDTF">2026-07-02T17:08:53Z</dcterms:modified>
</cp:coreProperties>
</file>