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64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7D9511-C09A-443C-9D06-A19EF58B87E1}" v="1" dt="2026-07-04T17:48:2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Binjrawat" userId="dd94bfdbcf3b553c" providerId="LiveId" clId="{DEC7D341-F93A-42D7-932B-4BCD881941E7}"/>
    <pc:docChg chg="addSld delSld modSld sldOrd">
      <pc:chgData name="Hitesh Binjrawat" userId="dd94bfdbcf3b553c" providerId="LiveId" clId="{DEC7D341-F93A-42D7-932B-4BCD881941E7}" dt="2026-07-04T17:48:43.481" v="6" actId="20577"/>
      <pc:docMkLst>
        <pc:docMk/>
      </pc:docMkLst>
      <pc:sldChg chg="del">
        <pc:chgData name="Hitesh Binjrawat" userId="dd94bfdbcf3b553c" providerId="LiveId" clId="{DEC7D341-F93A-42D7-932B-4BCD881941E7}" dt="2026-07-04T17:48:29.118" v="5" actId="47"/>
        <pc:sldMkLst>
          <pc:docMk/>
          <pc:sldMk cId="0" sldId="259"/>
        </pc:sldMkLst>
      </pc:sldChg>
      <pc:sldChg chg="new del">
        <pc:chgData name="Hitesh Binjrawat" userId="dd94bfdbcf3b553c" providerId="LiveId" clId="{DEC7D341-F93A-42D7-932B-4BCD881941E7}" dt="2026-07-04T17:48:23.885" v="2" actId="47"/>
        <pc:sldMkLst>
          <pc:docMk/>
          <pc:sldMk cId="3154884169" sldId="263"/>
        </pc:sldMkLst>
      </pc:sldChg>
      <pc:sldChg chg="modSp add mod ord setBg">
        <pc:chgData name="Hitesh Binjrawat" userId="dd94bfdbcf3b553c" providerId="LiveId" clId="{DEC7D341-F93A-42D7-932B-4BCD881941E7}" dt="2026-07-04T17:48:43.481" v="6" actId="20577"/>
        <pc:sldMkLst>
          <pc:docMk/>
          <pc:sldMk cId="0" sldId="264"/>
        </pc:sldMkLst>
        <pc:spChg chg="mod">
          <ac:chgData name="Hitesh Binjrawat" userId="dd94bfdbcf3b553c" providerId="LiveId" clId="{DEC7D341-F93A-42D7-932B-4BCD881941E7}" dt="2026-07-04T17:48:43.481" v="6" actId="20577"/>
          <ac:spMkLst>
            <pc:docMk/>
            <pc:sldMk cId="0" sldId="264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49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are building a query-aware prompt compressor for Hindi RAG pipelines. State the two headline numbers -- 2x-5x compression and 1.5x+ latency speedup -- and hand off to the next speaker for the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failure modes that motivate the project: (1) morphological destruction when English-trained compressors are applied to Hindi, and (2) task-agnostic information loss where the compressor ignores the user's query and drops the facts needed to answer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what's in and out of scope: Hindi-only for phase one, extractive compression only, integrated into LangChain. Then walk through the three measurable objectives -- compression ratio, accuracy parity, and latency speedup -- which will structure our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left to right: LLMLingua is task-aware but slow; LLMLingua-2 is fast but ignores the query and only works on English; IndicQA gives us Hindi data but no compression method. Our approach is the only one that is query-aware, Hindi-ready, and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pipeline: the question and context are fed together into the encoder using the [CLS] Question [SEP] Context [SEP] format, so bidirectional self-attention lets every context token attend to the query. Preservation scores are query-conditioned, not task-agnostic. The encoder is fine-tuned on distilled Hindi data so it preserves grammatical integrity instead of fragmenting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deck with the evaluation plan: we compare against an uncompressed RAG pipeline and zero-shot LLMLingua-2 on Hindi, scoring on EM/F1 for answer quality, compression ratio for efficiency, and end-to-end latency for speed. Reiterate stakeholders who benefit -- end users, AI engineers, and 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21f1003868@ds.study.iitm.ac.in" TargetMode="External"/><Relationship Id="rId3" Type="http://schemas.openxmlformats.org/officeDocument/2006/relationships/hyperlink" Target="mailto:21f1003070@ds.study.iitm.ac.in" TargetMode="External"/><Relationship Id="rId7" Type="http://schemas.openxmlformats.org/officeDocument/2006/relationships/hyperlink" Target="mailto:22f2001256@ds.study.iitm.ac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22f2001255@ds.study.iitm.ac.in" TargetMode="External"/><Relationship Id="rId5" Type="http://schemas.openxmlformats.org/officeDocument/2006/relationships/hyperlink" Target="mailto:21f1002807@ds.study.iitm.ac.in" TargetMode="External"/><Relationship Id="rId4" Type="http://schemas.openxmlformats.org/officeDocument/2006/relationships/hyperlink" Target="mailto:21f1002300@ds.study.iitm.ac.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63075C-973A-B259-B9B0-A3230A78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168" y="159305"/>
            <a:ext cx="2143125" cy="2143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0B4511-726A-1709-1C21-E6DBE4A11FDD}"/>
              </a:ext>
            </a:extLst>
          </p:cNvPr>
          <p:cNvSpPr txBox="1"/>
          <p:nvPr/>
        </p:nvSpPr>
        <p:spPr>
          <a:xfrm>
            <a:off x="2780607" y="2504728"/>
            <a:ext cx="66307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 	  Data Science AI Lab Project Group 9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IN" dirty="0"/>
              <a:t>SOUMYABRATA MAHAPATRA	</a:t>
            </a:r>
            <a:r>
              <a:rPr lang="en-IN" dirty="0">
                <a:hlinkClick r:id="rId3"/>
              </a:rPr>
              <a:t>21f1003070@ds.study.iitm.ac.in</a:t>
            </a:r>
            <a:endParaRPr lang="en-IN" dirty="0"/>
          </a:p>
          <a:p>
            <a:r>
              <a:rPr lang="en-IN" dirty="0"/>
              <a:t>D CHIRAG RAO		</a:t>
            </a:r>
            <a:r>
              <a:rPr lang="en-IN" dirty="0">
                <a:hlinkClick r:id="rId4"/>
              </a:rPr>
              <a:t>21f1002300@ds.study.iitm.ac.in</a:t>
            </a:r>
            <a:endParaRPr lang="en-IN" dirty="0"/>
          </a:p>
          <a:p>
            <a:r>
              <a:rPr lang="en-IN" dirty="0"/>
              <a:t>ANURAG MONDAL		</a:t>
            </a:r>
            <a:r>
              <a:rPr lang="en-IN" dirty="0">
                <a:hlinkClick r:id="rId5"/>
              </a:rPr>
              <a:t>21f1002807@ds.study.iitm.ac.in</a:t>
            </a:r>
            <a:endParaRPr lang="en-IN" dirty="0"/>
          </a:p>
          <a:p>
            <a:r>
              <a:rPr lang="en-IN" dirty="0"/>
              <a:t>HITESH BINJRAWAT		</a:t>
            </a:r>
            <a:r>
              <a:rPr lang="en-IN" dirty="0">
                <a:hlinkClick r:id="rId6"/>
              </a:rPr>
              <a:t>22f2001255@ds.study.iitm.ac.in</a:t>
            </a:r>
            <a:endParaRPr lang="en-IN" dirty="0"/>
          </a:p>
          <a:p>
            <a:r>
              <a:rPr lang="en-IN" dirty="0"/>
              <a:t>HITESH			</a:t>
            </a:r>
            <a:r>
              <a:rPr lang="en-IN" dirty="0">
                <a:hlinkClick r:id="rId7"/>
              </a:rPr>
              <a:t>22f2001256@ds.study.iitm.ac.in</a:t>
            </a:r>
            <a:endParaRPr lang="en-IN" dirty="0"/>
          </a:p>
          <a:p>
            <a:r>
              <a:rPr lang="en-IN" dirty="0"/>
              <a:t>BHAVYA JAIN		</a:t>
            </a:r>
            <a:r>
              <a:rPr lang="en-IN" dirty="0">
                <a:hlinkClick r:id="rId8"/>
              </a:rPr>
              <a:t>21f1003868@ds.study.iitm.ac.in</a:t>
            </a:r>
            <a:endParaRPr lang="en-IN" dirty="0"/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69481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E356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E356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548640"/>
            <a:ext cx="1463040" cy="1463040"/>
          </a:xfrm>
          <a:prstGeom prst="ellipse">
            <a:avLst/>
          </a:prstGeom>
          <a:solidFill>
            <a:srgbClr val="E886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C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Query-Aware Prompt Compression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4C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Efficient Hindi RAG Pipelines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morphological destruction and task-agnostic information loss in regional-language Retrieval-Augmented Generation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2x–5x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1.5x+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08960" y="5212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speedup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77840" y="5212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(IndicQA)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Demonstration  |  RAG · NLP · Indic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RAG contexts are costly and slow. Compressors like LLMLingua-2 help — but break down for Hindi.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16636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E8862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2585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659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Morphological Destruction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Compressors trained only on English corpora don't understand Hindi's rich morphology. Token classification arbitrarily fragments words and destroys grammatical integrity in Devanagari and code-switched text.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530352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F1F1F8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5303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English-only training data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80760" y="196596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1965960"/>
            <a:ext cx="516636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E8862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25856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19659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Task-Agnostic Information Loss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400800" y="301752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token classifiers score preservation independent of the user's query. In RAG, this trims context blindly — frequently dropping the exact facts needed to answer the question.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00800" y="530352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F1F1F8"/>
          </a:solidFill>
          <a:ln/>
        </p:spPr>
      </p:sp>
      <p:sp>
        <p:nvSpPr>
          <p:cNvPr id="20" name="Text 16"/>
          <p:cNvSpPr/>
          <p:nvPr/>
        </p:nvSpPr>
        <p:spPr>
          <a:xfrm>
            <a:off x="6583680" y="5303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query awareness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AF7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384048" cy="384048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1902684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subset of IndicQA benchmark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extractive token-classification dataset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XLM-RoBERTa-large / mBERT, query-aware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into a LangChain RAG pipeline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BEDE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4270248"/>
            <a:ext cx="365760" cy="365760"/>
          </a:xfrm>
          <a:prstGeom prst="ellipse">
            <a:avLst/>
          </a:prstGeom>
          <a:solidFill>
            <a:srgbClr val="C1443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4358030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3312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68680" y="478231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10 IndicQA languages (future work)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/ generative compression (hallucination risk)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(image/video) prompt compression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09360" y="15087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309360" y="1965960"/>
            <a:ext cx="5349240" cy="1207008"/>
          </a:xfrm>
          <a:prstGeom prst="roundRect">
            <a:avLst>
              <a:gd name="adj" fmla="val 7576"/>
            </a:avLst>
          </a:prstGeom>
          <a:solidFill>
            <a:srgbClr val="1B1F3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2951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066" y="2426818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6092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2x–5x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360920" y="25511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compression ratio on Hindi RAG contexts, without corrupting native script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309360" y="3319272"/>
            <a:ext cx="5349240" cy="1207008"/>
          </a:xfrm>
          <a:prstGeom prst="roundRect">
            <a:avLst>
              <a:gd name="adj" fmla="val 7576"/>
            </a:avLst>
          </a:prstGeom>
          <a:solidFill>
            <a:srgbClr val="3FA796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65392" y="36484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066" y="378013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/ F1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360920" y="39044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or improve accuracy vs. uncompressed baseline on IndicQA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09360" y="4672584"/>
            <a:ext cx="5349240" cy="1207008"/>
          </a:xfrm>
          <a:prstGeom prst="roundRect">
            <a:avLst>
              <a:gd name="adj" fmla="val 7576"/>
            </a:avLst>
          </a:prstGeom>
          <a:solidFill>
            <a:srgbClr val="E8862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65392" y="50017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066" y="5133442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0920" y="47823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1.5x+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7360920" y="52578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inference speedup, offsetting classifier overhead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Existing Work Falls Short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508760"/>
          <a:ext cx="11064240" cy="2880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Query-Aware?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Hindi-Ready?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A"/>
                          </a:solidFill>
                        </a:rPr>
                        <a:t>LLMLingua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A"/>
                          </a:solidFill>
                        </a:rPr>
                        <a:t>(Jiang et al. 2023)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A"/>
                          </a:solidFill>
                        </a:rPr>
                        <a:t>Causal SLM, entropy/perplexity-based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862A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144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1443A"/>
                          </a:solidFill>
                        </a:rPr>
                        <a:t>Slow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A"/>
                          </a:solidFill>
                        </a:rPr>
                        <a:t>LLMLingua-2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A"/>
                          </a:solidFill>
                        </a:rPr>
                        <a:t>(Pan et al. 2024)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A"/>
                          </a:solidFill>
                        </a:rPr>
                        <a:t>Token classification, bidirectional encoder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144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1443A"/>
                          </a:solidFill>
                        </a:rPr>
                        <a:t>No (English-only)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FA796"/>
                          </a:solidFill>
                        </a:rPr>
                        <a:t>Fast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Our Approach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Query-aware token classification, fine-tuned on Hindi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Fast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1F1F8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4709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IndicQA Benchmark (Singh et al. 2024): </a:t>
            </a:r>
            <a:r>
              <a:rPr lang="en-US" sz="1150" i="1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11-language Indic QA evaluation suite used to test every approach above — a </a:t>
            </a:r>
            <a:r>
              <a:rPr lang="en-US" sz="1150" i="1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LLMLingua-2 is fast but task-agnostic and English-centric — the exact two gaps this project closes.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C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Query-Aware Compression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the input so the encoder weighs every context token directly against the user's question.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2E3566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423160"/>
            <a:ext cx="640080" cy="64008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659" y="25767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1546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Question [SEP] Context [SEP]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01752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37560" y="219456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2E3566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E8862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579" y="25767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7288" y="31546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Cross-Lingual Encoder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7472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XLM-R-large / mBERT, bidirectional attention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0644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126480" y="219456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2E3566"/>
          </a:solidFill>
          <a:ln/>
        </p:spPr>
      </p:sp>
      <p:sp>
        <p:nvSpPr>
          <p:cNvPr id="18" name="Shape 14"/>
          <p:cNvSpPr/>
          <p:nvPr/>
        </p:nvSpPr>
        <p:spPr>
          <a:xfrm>
            <a:off x="7040880" y="2423160"/>
            <a:ext cx="640080" cy="64008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499" y="257677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6208" y="31546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Query-Aware Scoring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6364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Preserve/discard weighted against the query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59536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915400" y="219456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2E3566"/>
          </a:solidFill>
          <a:ln/>
        </p:spPr>
      </p:sp>
      <p:sp>
        <p:nvSpPr>
          <p:cNvPr id="24" name="Shape 19"/>
          <p:cNvSpPr/>
          <p:nvPr/>
        </p:nvSpPr>
        <p:spPr>
          <a:xfrm>
            <a:off x="9829800" y="2423160"/>
            <a:ext cx="640080" cy="640080"/>
          </a:xfrm>
          <a:prstGeom prst="ellipse">
            <a:avLst/>
          </a:prstGeom>
          <a:solidFill>
            <a:srgbClr val="E8862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3419" y="257677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25128" y="31546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Compressed Prompt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05256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2x–5x shorter, Hindi-intact, query-relevant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Differentiators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548640" y="4892040"/>
            <a:ext cx="310896" cy="310896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55" y="4966655"/>
            <a:ext cx="161666" cy="16166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4846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query-awareness baked into bidirectional self-attention (not post-hoc filtering)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48640" y="5486400"/>
            <a:ext cx="310896" cy="310896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55" y="5561015"/>
            <a:ext cx="161666" cy="16166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5156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distilled Hindi IndicQA data to preserve native morphology and grammar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prove the compressor works — against real baselines, on real metrics.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709160"/>
          </a:xfrm>
          <a:prstGeom prst="roundRect">
            <a:avLst>
              <a:gd name="adj" fmla="val 2222"/>
            </a:avLst>
          </a:prstGeom>
          <a:solidFill>
            <a:srgbClr val="F1F1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671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for Comparison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788920"/>
            <a:ext cx="292608" cy="29260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Uncompressed RAG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258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pipeline with full context on a frontier LLM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3749040"/>
            <a:ext cx="292608" cy="29260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LLMLingua-2 (zero-shot)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32588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Hindi despite English-only training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4709160"/>
            <a:ext cx="4663440" cy="9144"/>
          </a:xfrm>
          <a:prstGeom prst="rect">
            <a:avLst/>
          </a:prstGeom>
          <a:solidFill>
            <a:srgbClr val="D8DA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5303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end-users &amp; regional support bots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2960" y="56509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engineers optimizing RAG latency &amp; cost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" y="59984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evaluators assessing technical rigor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80760" y="1783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080760" y="228600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309360" y="2532888"/>
            <a:ext cx="548640" cy="54864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4" y="2664562"/>
            <a:ext cx="285293" cy="28529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4088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040880" y="2788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(EM) &amp; ROUGE/F1 vs. IndicQA ground truth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080760" y="3493008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09360" y="3739896"/>
            <a:ext cx="548640" cy="548640"/>
          </a:xfrm>
          <a:prstGeom prst="ellipse">
            <a:avLst/>
          </a:prstGeom>
          <a:solidFill>
            <a:srgbClr val="E8862A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4" y="3871570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040880" y="3630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7040880" y="3995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tokens ÷ compressed tokens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080760" y="4700016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309360" y="4946904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034" y="5078578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040880" y="48371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040880" y="5202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per query, full RAG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941</Words>
  <Application>Microsoft Office PowerPoint</Application>
  <PresentationFormat>Widescreen</PresentationFormat>
  <Paragraphs>125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Query-Aware Prompt Compression for Hindi RAG Pipelines</dc:title>
  <dc:subject>PptxGenJS Presentation</dc:subject>
  <dc:creator>Project Team</dc:creator>
  <cp:lastModifiedBy>Hitesh Binjrawat</cp:lastModifiedBy>
  <cp:revision>3</cp:revision>
  <dcterms:created xsi:type="dcterms:W3CDTF">2026-07-02T16:47:02Z</dcterms:created>
  <dcterms:modified xsi:type="dcterms:W3CDTF">2026-07-04T17:48:45Z</dcterms:modified>
</cp:coreProperties>
</file>