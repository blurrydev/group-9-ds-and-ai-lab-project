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0865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54414"/>
            <a:ext cx="4754880" cy="4754880"/>
          </a:xfrm>
          <a:prstGeom prst="ellipse">
            <a:avLst/>
          </a:prstGeom>
          <a:solidFill>
            <a:srgbClr val="123A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r>
              <a:rPr lang="en-US" dirty="0"/>
              <a:t>	         	</a:t>
            </a:r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DSAI PROJECT  ·  MILESTONE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Compression for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Hindi Question Answering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Model, Systematic Hyperparameter Optimization, and Final Evaluation of an XLM-RoBERTa Token-Classification Compressor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F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56875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VALIDATION F1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29000" y="50749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F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29000" y="56875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35040" y="50749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F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035040" y="56875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EXPERIMENTS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41080" y="50749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F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2,015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641080" y="56875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USED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30175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Compression as Token Classification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generating a compressed prompt directly, the task is framed as sequence labeling: every token is scored Keep or Remove.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92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69748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IndicQA (Hindi) question–context–answer triples form the raw input.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31927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319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92" dirty="0"/>
          </a:p>
        </p:txBody>
      </p:sp>
      <p:sp>
        <p:nvSpPr>
          <p:cNvPr id="13" name="Text 11"/>
          <p:cNvSpPr/>
          <p:nvPr/>
        </p:nvSpPr>
        <p:spPr>
          <a:xfrm>
            <a:off x="1051560" y="329184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Distillation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685032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model (Qwen 3.5-397B) performs query-aware context distillation to produce compressed reference prompts.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30682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306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92" dirty="0"/>
          </a:p>
        </p:txBody>
      </p:sp>
      <p:sp>
        <p:nvSpPr>
          <p:cNvPr id="17" name="Text 15"/>
          <p:cNvSpPr/>
          <p:nvPr/>
        </p:nvSpPr>
        <p:spPr>
          <a:xfrm>
            <a:off x="1051560" y="427939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Alignment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672584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prompts are aligned back to whitespace tokens, producing binary retain/discard labels.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2943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5294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92" dirty="0"/>
          </a:p>
        </p:txBody>
      </p:sp>
      <p:sp>
        <p:nvSpPr>
          <p:cNvPr id="21" name="Text 19"/>
          <p:cNvSpPr/>
          <p:nvPr/>
        </p:nvSpPr>
        <p:spPr>
          <a:xfrm>
            <a:off x="1051560" y="526694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5660136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XLM-RoBERTa token-classification head is fine-tuned on the labeled dataset to predict Keep vs. Remove for every subword token.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39328" y="1344168"/>
            <a:ext cx="3209544" cy="4352544"/>
          </a:xfrm>
          <a:prstGeom prst="roundRect">
            <a:avLst>
              <a:gd name="adj" fmla="val 227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1B3A57">
                <a:alpha val="18000"/>
              </a:srgbClr>
            </a:outerShdw>
          </a:effectLst>
        </p:spPr>
      </p:sp>
      <p:pic>
        <p:nvPicPr>
          <p:cNvPr id="24" name="Image 0" descr="/home/claude/imgs/img-000-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508760"/>
            <a:ext cx="2880360" cy="40233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503920" y="57790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Training Pipeline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30175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SETUP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Splits, Preprocessing &amp; Environment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3317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76200" dist="25400" dir="5400000" algn="bl" rotWithShape="0">
              <a:srgbClr val="1B3A57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916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1,610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train.jsonl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017520" y="1600200"/>
            <a:ext cx="23317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76200" dist="25400" dir="5400000" algn="bl" rotWithShape="0">
              <a:srgbClr val="1B3A57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0" y="16916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6F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017520" y="248716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val.jsonl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577840" y="1600200"/>
            <a:ext cx="23317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76200" dist="25400" dir="5400000" algn="bl" rotWithShape="0">
              <a:srgbClr val="1B3A57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77840" y="16916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577840" y="248716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test.jsonl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include question, original answer, whitespace tokens, and binary keep/discard labels.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201168" cy="201168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6908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with the XLM-RoBERTa tokenizer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617720"/>
            <a:ext cx="201168" cy="201168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52628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binary labels to generated subword tokens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074920"/>
            <a:ext cx="201168" cy="201168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98348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ignore label (-100) to padding &amp; continuation subwords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532120"/>
            <a:ext cx="201168" cy="201168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44068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dynamic padding via data collator for batching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01000" y="1600200"/>
            <a:ext cx="3703320" cy="4480560"/>
          </a:xfrm>
          <a:prstGeom prst="roundRect">
            <a:avLst>
              <a:gd name="adj" fmla="val 2963"/>
            </a:avLst>
          </a:prstGeom>
          <a:solidFill>
            <a:srgbClr val="0B2E4A"/>
          </a:solidFill>
          <a:ln/>
          <a:effectLst>
            <a:outerShdw blurRad="101600" dist="38100" dir="5400000" algn="bl" rotWithShape="0">
              <a:srgbClr val="1B3A57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7532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75320" y="23317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75320" y="25694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NVIDIA Tesla T4 (15 GB each)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75320" y="29535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275320" y="31912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  ·  Driver 580.159.04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275320" y="35753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275320" y="38130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Hugging Face Transformers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275320" y="41970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275320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Datasets, Evaluate, Scikit-learn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275320" y="48188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275320" y="50566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Mixed-precision (FP16) training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275320" y="54406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275320" y="56784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random seed across runs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30175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Configurations, One Clear Winner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(balancing Precision &amp; Recall) is the primary criterion — not accuracy — for this binary token-classification task.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6675120" cy="169164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LR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Batch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Wt Decay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Warmup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1e-05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0.01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0.73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0.54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0.46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0.50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2e-05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0.01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0.74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0.55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0.53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3293D"/>
                          </a:solidFill>
                        </a:rPr>
                        <a:t>0.54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3e-05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0.01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0.72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0.51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0.36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0.42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2e-05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0.1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0.74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0.57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0.42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93D"/>
                          </a:solidFill>
                        </a:rPr>
                        <a:t>0.48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886200"/>
            <a:ext cx="6675120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886200"/>
            <a:ext cx="6309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 (lr = 2e-05, batch = 8) achieved the best Validation F1 (0.54) with a low, stable validation loss.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6177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loss did not always mean better F1 — Experiments 0 and 3 had similar losses to Experiment 1 but noticeably lower F1-scores.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534924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selected setup — lr 2e-05, batch 8, weight decay 0.01, warmup 100 — was carried forward and trained for 20 epochs to build the final model (next slide).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90104" y="1929384"/>
            <a:ext cx="4142232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1B3A57">
                <a:alpha val="18000"/>
              </a:srgbClr>
            </a:outerShdw>
          </a:effectLst>
        </p:spPr>
      </p:sp>
      <p:pic>
        <p:nvPicPr>
          <p:cNvPr id="13" name="Image 0" descr="/home/claude/imgs/img-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057400"/>
            <a:ext cx="3886200" cy="1371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18120" y="358444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F1 &amp; loss by experiment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818120" y="4114800"/>
            <a:ext cx="3886200" cy="1920240"/>
          </a:xfrm>
          <a:prstGeom prst="roundRect">
            <a:avLst>
              <a:gd name="adj" fmla="val 4762"/>
            </a:avLst>
          </a:prstGeom>
          <a:solidFill>
            <a:srgbClr val="0B2E4A"/>
          </a:solidFill>
          <a:ln/>
          <a:effectLst>
            <a:outerShdw blurRad="101600" dist="38100" dir="5400000" algn="bl" rotWithShape="0">
              <a:srgbClr val="1B3A57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092440" y="43159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EXPERIMENT 2 UNDERPERFORMS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092440" y="4736592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batch size (16), higher learning rate (3e-05), and longer warmup (200 steps) combine to give the lowest Recall (0.36) and F1 (0.42) of all four runs — despite a validation loss similar to the top performers.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30175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TRAINING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the Selected Configuration to Convergence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246120" cy="33375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76200" dist="25400" dir="5400000" algn="bl" rotWithShape="0">
              <a:srgbClr val="1B3A57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78308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CONFIGURATION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22402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2e-05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624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26243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0083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300837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3924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Steps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339242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776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37764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4206240"/>
            <a:ext cx="2788920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3434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VALIDATION F1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" y="461772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6F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0.59</a:t>
            </a:r>
            <a:endParaRPr lang="en-US" sz="4400" dirty="0"/>
          </a:p>
        </p:txBody>
      </p:sp>
      <p:sp>
        <p:nvSpPr>
          <p:cNvPr id="21" name="Shape 19"/>
          <p:cNvSpPr/>
          <p:nvPr/>
        </p:nvSpPr>
        <p:spPr>
          <a:xfrm>
            <a:off x="4014216" y="1591056"/>
            <a:ext cx="7744968" cy="2322576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1B3A57">
                <a:alpha val="18000"/>
              </a:srgbClr>
            </a:outerShdw>
          </a:effectLst>
        </p:spPr>
      </p:sp>
      <p:pic>
        <p:nvPicPr>
          <p:cNvPr id="22" name="Image 0" descr="/home/claude/imgs/img-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737360"/>
            <a:ext cx="7452360" cy="20299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160520" y="4069080"/>
            <a:ext cx="7452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steadily decreases over 20 epochs, while validation loss begins rising after ~epoch 10 — a sign of overfitting even as validation F1 remains in the 0.5–0.6 range.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160520" y="5074920"/>
            <a:ext cx="7452360" cy="777240"/>
          </a:xfrm>
          <a:prstGeom prst="roundRect">
            <a:avLst>
              <a:gd name="adj" fmla="val 11765"/>
            </a:avLst>
          </a:prstGeom>
          <a:solidFill>
            <a:srgbClr val="EAF1F6"/>
          </a:solidFill>
          <a:ln/>
        </p:spPr>
      </p:sp>
      <p:sp>
        <p:nvSpPr>
          <p:cNvPr id="25" name="Text 22"/>
          <p:cNvSpPr/>
          <p:nvPr/>
        </p:nvSpPr>
        <p:spPr>
          <a:xfrm>
            <a:off x="4389120" y="5074920"/>
            <a:ext cx="6995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extended training keeps improving token-level F1 despite rising loss — F1, not loss, should drive checkpoint selection here.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30175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Test-Set Performance &amp; Discrimination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9344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68880" y="155448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609344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6888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155448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609344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48056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92240" y="155448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609344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0.67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9224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503920" y="155448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1609344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0.59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50392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743200"/>
            <a:ext cx="6583680" cy="3419856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1B3A57">
                <a:alpha val="18000"/>
              </a:srgbClr>
            </a:outerShdw>
          </a:effectLst>
        </p:spPr>
      </p:sp>
      <p:pic>
        <p:nvPicPr>
          <p:cNvPr id="22" name="Image 0" descr="/home/claude/imgs/combo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80360"/>
            <a:ext cx="6309360" cy="314553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57200" y="610819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(32,819 Remove tokens correctly identified) and ROC curve (AUC = 0.83) show strong class discrimination.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040880" y="2743200"/>
            <a:ext cx="278892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1B3A57">
                <a:alpha val="18000"/>
              </a:srgbClr>
            </a:outerShdw>
          </a:effectLst>
        </p:spPr>
      </p:sp>
      <p:pic>
        <p:nvPicPr>
          <p:cNvPr id="25" name="Image 1" descr="/home/claude/imgs/img-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2880360"/>
            <a:ext cx="2514600" cy="25146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178040" y="553212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Precision–Recall curve (AP ≈ 0.56) — the expected precision/recall trade-off as more tokens are retained.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4572000" cy="4572000"/>
          </a:xfrm>
          <a:prstGeom prst="ellipse">
            <a:avLst/>
          </a:prstGeom>
          <a:solidFill>
            <a:srgbClr val="123A5C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75488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20040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FF6F5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30175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ANALYSIS &amp; LIMITATIONS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Still Struggles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9184" y="1563624"/>
            <a:ext cx="7159752" cy="2706624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1B3A57">
                <a:alpha val="18000"/>
              </a:srgbClr>
            </a:outerShdw>
          </a:effectLst>
        </p:spPr>
      </p:sp>
      <p:pic>
        <p:nvPicPr>
          <p:cNvPr id="9" name="Image 0" descr="/home/claude/imgs/combo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6903720" cy="2450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279392"/>
            <a:ext cx="6903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is uncorrelated with sequence length (corr = -0.024), but errors concentrate in the latter 60–90% of a sequence's tokens.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635240" y="16916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084832"/>
            <a:ext cx="128016" cy="128016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3" name="Text 10"/>
          <p:cNvSpPr/>
          <p:nvPr/>
        </p:nvSpPr>
        <p:spPr>
          <a:xfrm>
            <a:off x="7909560" y="1956816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low-frequency Hindi tokens (e.g. सोना, नित्य, वित्तीय) are misclassified 100% of the time.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635240" y="2980944"/>
            <a:ext cx="128016" cy="128016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5" name="Text 12"/>
          <p:cNvSpPr/>
          <p:nvPr/>
        </p:nvSpPr>
        <p:spPr>
          <a:xfrm>
            <a:off x="7909560" y="2852928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words like टीवी (93%) and फ़िल्म (90%) also show persistently high error rates.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635240" y="3877056"/>
            <a:ext cx="128016" cy="128016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7" name="Text 14"/>
          <p:cNvSpPr/>
          <p:nvPr/>
        </p:nvSpPr>
        <p:spPr>
          <a:xfrm>
            <a:off x="7909560" y="374904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cluster in a small token subset rather than spreading uniformly — a clear target for future data coverage.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635240" y="4773168"/>
            <a:ext cx="128016" cy="128016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9" name="Text 16"/>
          <p:cNvSpPr/>
          <p:nvPr/>
        </p:nvSpPr>
        <p:spPr>
          <a:xfrm>
            <a:off x="7909560" y="4645152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F1 (~0.53–0.59) trails the strong ROC-AUC (0.83), showing discrimination is good but precision/recall balance still has room to improve.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907792" y="4782312"/>
            <a:ext cx="201168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1B3A57">
                <a:alpha val="18000"/>
              </a:srgbClr>
            </a:outerShdw>
          </a:effectLst>
        </p:spPr>
      </p:sp>
      <p:pic>
        <p:nvPicPr>
          <p:cNvPr id="21" name="Image 1" descr="/home/claude/imgs/img-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4892040"/>
            <a:ext cx="1792224" cy="13716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57200" y="6446520"/>
            <a:ext cx="690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Highest-error tokens observed in the evaluation set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783</Words>
  <Application>Microsoft Office PowerPoint</Application>
  <PresentationFormat>Widescreen</PresentationFormat>
  <Paragraphs>169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Hitesh Binjrawat</cp:lastModifiedBy>
  <cp:revision>2</cp:revision>
  <dcterms:created xsi:type="dcterms:W3CDTF">2026-08-08T04:31:14Z</dcterms:created>
  <dcterms:modified xsi:type="dcterms:W3CDTF">2026-08-08T05:19:07Z</dcterms:modified>
</cp:coreProperties>
</file>