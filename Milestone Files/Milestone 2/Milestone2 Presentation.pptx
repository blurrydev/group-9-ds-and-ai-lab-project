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7" d="100"/>
          <a:sy n="77" d="100"/>
        </p:scale>
        <p:origin x="244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itesh Binjrawat" userId="dd94bfdbcf3b553c" providerId="LiveId" clId="{DEC7D341-F93A-42D7-932B-4BCD881941E7}"/>
    <pc:docChg chg="undo custSel modSld">
      <pc:chgData name="Hitesh Binjrawat" userId="dd94bfdbcf3b553c" providerId="LiveId" clId="{DEC7D341-F93A-42D7-932B-4BCD881941E7}" dt="2026-07-09T16:38:20.862" v="11" actId="1035"/>
      <pc:docMkLst>
        <pc:docMk/>
      </pc:docMkLst>
      <pc:sldChg chg="modSp mod">
        <pc:chgData name="Hitesh Binjrawat" userId="dd94bfdbcf3b553c" providerId="LiveId" clId="{DEC7D341-F93A-42D7-932B-4BCD881941E7}" dt="2026-07-09T16:36:24.489" v="4" actId="1076"/>
        <pc:sldMkLst>
          <pc:docMk/>
          <pc:sldMk cId="0" sldId="257"/>
        </pc:sldMkLst>
        <pc:spChg chg="mod">
          <ac:chgData name="Hitesh Binjrawat" userId="dd94bfdbcf3b553c" providerId="LiveId" clId="{DEC7D341-F93A-42D7-932B-4BCD881941E7}" dt="2026-07-09T16:36:24.489" v="4" actId="1076"/>
          <ac:spMkLst>
            <pc:docMk/>
            <pc:sldMk cId="0" sldId="257"/>
            <ac:spMk id="20" creationId="{00000000-0000-0000-0000-000000000000}"/>
          </ac:spMkLst>
        </pc:spChg>
      </pc:sldChg>
      <pc:sldChg chg="addSp delSp modSp mod">
        <pc:chgData name="Hitesh Binjrawat" userId="dd94bfdbcf3b553c" providerId="LiveId" clId="{DEC7D341-F93A-42D7-932B-4BCD881941E7}" dt="2026-07-09T16:38:20.862" v="11" actId="1035"/>
        <pc:sldMkLst>
          <pc:docMk/>
          <pc:sldMk cId="0" sldId="261"/>
        </pc:sldMkLst>
        <pc:spChg chg="mod">
          <ac:chgData name="Hitesh Binjrawat" userId="dd94bfdbcf3b553c" providerId="LiveId" clId="{DEC7D341-F93A-42D7-932B-4BCD881941E7}" dt="2026-07-08T15:53:15.302" v="2" actId="1036"/>
          <ac:spMkLst>
            <pc:docMk/>
            <pc:sldMk cId="0" sldId="261"/>
            <ac:spMk id="2" creationId="{00000000-0000-0000-0000-000000000000}"/>
          </ac:spMkLst>
        </pc:spChg>
        <pc:spChg chg="add del mod">
          <ac:chgData name="Hitesh Binjrawat" userId="dd94bfdbcf3b553c" providerId="LiveId" clId="{DEC7D341-F93A-42D7-932B-4BCD881941E7}" dt="2026-07-09T16:38:20.862" v="11" actId="1035"/>
          <ac:spMkLst>
            <pc:docMk/>
            <pc:sldMk cId="0" sldId="261"/>
            <ac:spMk id="22" creationId="{00000000-0000-0000-0000-000000000000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FFFFFF"/>
                </a:solidFill>
                <a:latin typeface="Arial"/>
              </a:defRPr>
            </a:pPr>
            <a:r>
              <a:rPr lang="en-US" sz="1300" b="0" i="0" u="none" strike="noStrike">
                <a:solidFill>
                  <a:srgbClr val="FFFFFF"/>
                </a:solidFill>
                <a:latin typeface="Arial"/>
              </a:rPr>
              <a:t>Average Context Length: Before vs After</a:t>
            </a:r>
          </a:p>
        </c:rich>
      </c:tx>
      <c:layout>
        <c:manualLayout>
          <c:xMode val="edge"/>
          <c:yMode val="edge"/>
          <c:x val="0.22835097001763668"/>
          <c:y val="2.4509803921568627E-2"/>
        </c:manualLayout>
      </c:layout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Original (avg tokens)</c:v>
                </c:pt>
              </c:strCache>
            </c:strRef>
          </c:tx>
          <c:spPr>
            <a:solidFill>
              <a:srgbClr val="3B4A6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Train</c:v>
                </c:pt>
                <c:pt idx="1">
                  <c:v>Validation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498</c:v>
                </c:pt>
                <c:pt idx="1">
                  <c:v>489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32E-4716-AC92-4F404DE155D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Compressed (avg tokens)</c:v>
                </c:pt>
              </c:strCache>
            </c:strRef>
          </c:tx>
          <c:spPr>
            <a:solidFill>
              <a:srgbClr val="FF9F1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Train</c:v>
                </c:pt>
                <c:pt idx="1">
                  <c:v>Validation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19</c:v>
                </c:pt>
                <c:pt idx="1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32E-4716-AC92-4F404DE155DB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3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3B4A6B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AEB9C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2A3A5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3B4A6B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EB9C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B2A4A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C6CEDD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1B2A4A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164450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0" y="5212080"/>
            <a:ext cx="685800" cy="685800"/>
          </a:xfrm>
          <a:prstGeom prst="ellipse">
            <a:avLst/>
          </a:prstGeom>
          <a:solidFill>
            <a:srgbClr val="141F38"/>
          </a:solidFill>
          <a:ln w="15875">
            <a:solidFill>
              <a:srgbClr val="FF9F1C"/>
            </a:solidFill>
            <a:prstDash val="solid"/>
          </a:ln>
        </p:spPr>
      </p:sp>
      <p:pic>
        <p:nvPicPr>
          <p:cNvPr id="3" name="Image 0" descr="icons/cloud_download_amb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6776" y="5385816"/>
            <a:ext cx="338328" cy="33832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5961888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</a:t>
            </a:r>
            <a:endParaRPr lang="en-US" sz="1050" dirty="0"/>
          </a:p>
        </p:txBody>
      </p:sp>
      <p:sp>
        <p:nvSpPr>
          <p:cNvPr id="5" name="Shape 2"/>
          <p:cNvSpPr/>
          <p:nvPr/>
        </p:nvSpPr>
        <p:spPr>
          <a:xfrm>
            <a:off x="2148840" y="5554980"/>
            <a:ext cx="1508760" cy="0"/>
          </a:xfrm>
          <a:prstGeom prst="line">
            <a:avLst/>
          </a:prstGeom>
          <a:noFill/>
          <a:ln w="19050">
            <a:solidFill>
              <a:srgbClr val="3B4A6B"/>
            </a:solidFill>
            <a:prstDash val="sysDot"/>
          </a:ln>
        </p:spPr>
      </p:sp>
      <p:sp>
        <p:nvSpPr>
          <p:cNvPr id="6" name="Shape 3"/>
          <p:cNvSpPr/>
          <p:nvPr/>
        </p:nvSpPr>
        <p:spPr>
          <a:xfrm>
            <a:off x="3657600" y="5212080"/>
            <a:ext cx="685800" cy="685800"/>
          </a:xfrm>
          <a:prstGeom prst="ellipse">
            <a:avLst/>
          </a:prstGeom>
          <a:solidFill>
            <a:srgbClr val="141F38"/>
          </a:solidFill>
          <a:ln w="15875">
            <a:solidFill>
              <a:srgbClr val="FF9F1C"/>
            </a:solidFill>
            <a:prstDash val="solid"/>
          </a:ln>
        </p:spPr>
      </p:sp>
      <p:pic>
        <p:nvPicPr>
          <p:cNvPr id="7" name="Image 1" descr="icons/robot_amb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31336" y="5385816"/>
            <a:ext cx="338328" cy="33832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337560" y="5961888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Distill</a:t>
            </a:r>
            <a:endParaRPr lang="en-US" sz="1050" dirty="0"/>
          </a:p>
        </p:txBody>
      </p:sp>
      <p:sp>
        <p:nvSpPr>
          <p:cNvPr id="9" name="Shape 5"/>
          <p:cNvSpPr/>
          <p:nvPr/>
        </p:nvSpPr>
        <p:spPr>
          <a:xfrm>
            <a:off x="4343400" y="5554980"/>
            <a:ext cx="1508760" cy="0"/>
          </a:xfrm>
          <a:prstGeom prst="line">
            <a:avLst/>
          </a:prstGeom>
          <a:noFill/>
          <a:ln w="19050">
            <a:solidFill>
              <a:srgbClr val="3B4A6B"/>
            </a:solidFill>
            <a:prstDash val="sysDot"/>
          </a:ln>
        </p:spPr>
      </p:sp>
      <p:sp>
        <p:nvSpPr>
          <p:cNvPr id="10" name="Shape 6"/>
          <p:cNvSpPr/>
          <p:nvPr/>
        </p:nvSpPr>
        <p:spPr>
          <a:xfrm>
            <a:off x="5852160" y="5212080"/>
            <a:ext cx="685800" cy="685800"/>
          </a:xfrm>
          <a:prstGeom prst="ellipse">
            <a:avLst/>
          </a:prstGeom>
          <a:solidFill>
            <a:srgbClr val="141F38"/>
          </a:solidFill>
          <a:ln w="15875">
            <a:solidFill>
              <a:srgbClr val="FF9F1C"/>
            </a:solidFill>
            <a:prstDash val="solid"/>
          </a:ln>
        </p:spPr>
      </p:sp>
      <p:pic>
        <p:nvPicPr>
          <p:cNvPr id="11" name="Image 2" descr="icons/tags_amb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25896" y="5385816"/>
            <a:ext cx="338328" cy="33832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5532120" y="5961888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6537960" y="5554980"/>
            <a:ext cx="1508760" cy="0"/>
          </a:xfrm>
          <a:prstGeom prst="line">
            <a:avLst/>
          </a:prstGeom>
          <a:noFill/>
          <a:ln w="19050">
            <a:solidFill>
              <a:srgbClr val="3B4A6B"/>
            </a:solidFill>
            <a:prstDash val="sysDot"/>
          </a:ln>
        </p:spPr>
      </p:sp>
      <p:sp>
        <p:nvSpPr>
          <p:cNvPr id="14" name="Shape 9"/>
          <p:cNvSpPr/>
          <p:nvPr/>
        </p:nvSpPr>
        <p:spPr>
          <a:xfrm>
            <a:off x="8046720" y="5212080"/>
            <a:ext cx="685800" cy="685800"/>
          </a:xfrm>
          <a:prstGeom prst="ellipse">
            <a:avLst/>
          </a:prstGeom>
          <a:solidFill>
            <a:srgbClr val="141F38"/>
          </a:solidFill>
          <a:ln w="15875">
            <a:solidFill>
              <a:srgbClr val="FF9F1C"/>
            </a:solidFill>
            <a:prstDash val="solid"/>
          </a:ln>
        </p:spPr>
      </p:sp>
      <p:pic>
        <p:nvPicPr>
          <p:cNvPr id="15" name="Image 3" descr="icons/layer_amb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0456" y="5385816"/>
            <a:ext cx="338328" cy="338328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7726680" y="5961888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</a:t>
            </a:r>
            <a:endParaRPr lang="en-US" sz="1050" dirty="0"/>
          </a:p>
        </p:txBody>
      </p:sp>
      <p:sp>
        <p:nvSpPr>
          <p:cNvPr id="17" name="Shape 11"/>
          <p:cNvSpPr/>
          <p:nvPr/>
        </p:nvSpPr>
        <p:spPr>
          <a:xfrm>
            <a:off x="8732520" y="5554980"/>
            <a:ext cx="1508760" cy="0"/>
          </a:xfrm>
          <a:prstGeom prst="line">
            <a:avLst/>
          </a:prstGeom>
          <a:noFill/>
          <a:ln w="19050">
            <a:solidFill>
              <a:srgbClr val="3B4A6B"/>
            </a:solidFill>
            <a:prstDash val="sysDot"/>
          </a:ln>
        </p:spPr>
      </p:sp>
      <p:sp>
        <p:nvSpPr>
          <p:cNvPr id="18" name="Shape 12"/>
          <p:cNvSpPr/>
          <p:nvPr/>
        </p:nvSpPr>
        <p:spPr>
          <a:xfrm>
            <a:off x="10241280" y="5212080"/>
            <a:ext cx="685800" cy="685800"/>
          </a:xfrm>
          <a:prstGeom prst="ellipse">
            <a:avLst/>
          </a:prstGeom>
          <a:solidFill>
            <a:srgbClr val="141F38"/>
          </a:solidFill>
          <a:ln w="15875">
            <a:solidFill>
              <a:srgbClr val="FF9F1C"/>
            </a:solidFill>
            <a:prstDash val="solid"/>
          </a:ln>
        </p:spPr>
      </p:sp>
      <p:pic>
        <p:nvPicPr>
          <p:cNvPr id="19" name="Image 4" descr="icons/chart_tea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15016" y="5385816"/>
            <a:ext cx="338328" cy="338328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9921240" y="5961888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050" dirty="0"/>
          </a:p>
        </p:txBody>
      </p:sp>
      <p:sp>
        <p:nvSpPr>
          <p:cNvPr id="21" name="Shape 14"/>
          <p:cNvSpPr/>
          <p:nvPr/>
        </p:nvSpPr>
        <p:spPr>
          <a:xfrm>
            <a:off x="1463040" y="914400"/>
            <a:ext cx="4206240" cy="329184"/>
          </a:xfrm>
          <a:prstGeom prst="roundRect">
            <a:avLst>
              <a:gd name="adj" fmla="val 50000"/>
            </a:avLst>
          </a:prstGeom>
          <a:solidFill>
            <a:srgbClr val="2A3A5C"/>
          </a:solidFill>
          <a:ln/>
        </p:spPr>
      </p:sp>
      <p:sp>
        <p:nvSpPr>
          <p:cNvPr id="22" name="Text 15"/>
          <p:cNvSpPr/>
          <p:nvPr/>
        </p:nvSpPr>
        <p:spPr>
          <a:xfrm>
            <a:off x="1463040" y="914400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 ·  AI LAB PROJECT  ·  MILESTONE 2</a:t>
            </a:r>
            <a:endParaRPr lang="en-US" sz="1100" dirty="0"/>
          </a:p>
        </p:txBody>
      </p:sp>
      <p:sp>
        <p:nvSpPr>
          <p:cNvPr id="23" name="Text 16"/>
          <p:cNvSpPr/>
          <p:nvPr/>
        </p:nvSpPr>
        <p:spPr>
          <a:xfrm>
            <a:off x="1463040" y="1600200"/>
            <a:ext cx="9326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Query-Aware Context Compression</a:t>
            </a:r>
            <a:endParaRPr lang="en-US" sz="4000" dirty="0"/>
          </a:p>
        </p:txBody>
      </p:sp>
      <p:sp>
        <p:nvSpPr>
          <p:cNvPr id="24" name="Text 17"/>
          <p:cNvSpPr/>
          <p:nvPr/>
        </p:nvSpPr>
        <p:spPr>
          <a:xfrm>
            <a:off x="1463040" y="2331720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FF9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Hindi Question Answering</a:t>
            </a:r>
            <a:endParaRPr lang="en-US" sz="2800" dirty="0"/>
          </a:p>
        </p:txBody>
      </p:sp>
      <p:sp>
        <p:nvSpPr>
          <p:cNvPr id="25" name="Text 18"/>
          <p:cNvSpPr/>
          <p:nvPr/>
        </p:nvSpPr>
        <p:spPr>
          <a:xfrm>
            <a:off x="1463040" y="32004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C6CE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 supervised token-labelling dataset by distilling long Hindi contexts into minimal, answer-preserving spans using an LLM teacher.</a:t>
            </a:r>
            <a:endParaRPr lang="en-US" sz="1450" dirty="0"/>
          </a:p>
        </p:txBody>
      </p:sp>
      <p:sp>
        <p:nvSpPr>
          <p:cNvPr id="26" name="Text 19"/>
          <p:cNvSpPr/>
          <p:nvPr/>
        </p:nvSpPr>
        <p:spPr>
          <a:xfrm>
            <a:off x="1463040" y="41605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1,052</a:t>
            </a:r>
            <a:endParaRPr lang="en-US" sz="3000" dirty="0"/>
          </a:p>
        </p:txBody>
      </p:sp>
      <p:sp>
        <p:nvSpPr>
          <p:cNvPr id="27" name="Text 20"/>
          <p:cNvSpPr/>
          <p:nvPr/>
        </p:nvSpPr>
        <p:spPr>
          <a:xfrm>
            <a:off x="1463040" y="47091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 QA examples fetched</a:t>
            </a:r>
            <a:endParaRPr lang="en-US" sz="1150" dirty="0"/>
          </a:p>
        </p:txBody>
      </p:sp>
      <p:sp>
        <p:nvSpPr>
          <p:cNvPr id="28" name="Text 21"/>
          <p:cNvSpPr/>
          <p:nvPr/>
        </p:nvSpPr>
        <p:spPr>
          <a:xfrm>
            <a:off x="4206240" y="41605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96%</a:t>
            </a:r>
            <a:endParaRPr lang="en-US" sz="3000" dirty="0"/>
          </a:p>
        </p:txBody>
      </p:sp>
      <p:sp>
        <p:nvSpPr>
          <p:cNvPr id="29" name="Text 22"/>
          <p:cNvSpPr/>
          <p:nvPr/>
        </p:nvSpPr>
        <p:spPr>
          <a:xfrm>
            <a:off x="4206240" y="47091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prompt-size reduction</a:t>
            </a:r>
            <a:endParaRPr lang="en-US" sz="1150" dirty="0"/>
          </a:p>
        </p:txBody>
      </p:sp>
      <p:sp>
        <p:nvSpPr>
          <p:cNvPr id="30" name="Text 23"/>
          <p:cNvSpPr/>
          <p:nvPr/>
        </p:nvSpPr>
        <p:spPr>
          <a:xfrm>
            <a:off x="6949440" y="41605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91.9%</a:t>
            </a:r>
            <a:endParaRPr lang="en-US" sz="3000" dirty="0"/>
          </a:p>
        </p:txBody>
      </p:sp>
      <p:sp>
        <p:nvSpPr>
          <p:cNvPr id="31" name="Text 24"/>
          <p:cNvSpPr/>
          <p:nvPr/>
        </p:nvSpPr>
        <p:spPr>
          <a:xfrm>
            <a:off x="6949440" y="47091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retention (val)</a:t>
            </a:r>
            <a:endParaRPr lang="en-US" sz="1150" dirty="0"/>
          </a:p>
        </p:txBody>
      </p:sp>
      <p:sp>
        <p:nvSpPr>
          <p:cNvPr id="32" name="Text 25"/>
          <p:cNvSpPr/>
          <p:nvPr/>
        </p:nvSpPr>
        <p:spPr>
          <a:xfrm>
            <a:off x="14630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E7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IndicQA (ai4bharat)   ·   Teacher model: Qwen 3.5-397B-A17B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9CF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Sourcing the IndicQA Hindi Dataset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Pulling question–context–answer triplets directly from the Hugging Face Parquet export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120640" cy="1170432"/>
          </a:xfrm>
          <a:prstGeom prst="roundRect">
            <a:avLst>
              <a:gd name="adj" fmla="val 6250"/>
            </a:avLst>
          </a:prstGeom>
          <a:solidFill>
            <a:srgbClr val="F7F5F1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2116836"/>
            <a:ext cx="502920" cy="50292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7" name="Image 0" descr="icons/database_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231136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08760" y="189280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Locate source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508760" y="2203704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the auto-converted Parquet file for the Hindi subset of ai4bharat/IndicQA on Hugging Face.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3099816"/>
            <a:ext cx="5120640" cy="1170432"/>
          </a:xfrm>
          <a:prstGeom prst="roundRect">
            <a:avLst>
              <a:gd name="adj" fmla="val 6250"/>
            </a:avLst>
          </a:prstGeom>
          <a:solidFill>
            <a:srgbClr val="1B2A4A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77240" y="3433572"/>
            <a:ext cx="502920" cy="502920"/>
          </a:xfrm>
          <a:prstGeom prst="ellipse">
            <a:avLst/>
          </a:prstGeom>
          <a:solidFill>
            <a:srgbClr val="FF9F1C"/>
          </a:solidFill>
          <a:ln/>
        </p:spPr>
      </p:sp>
      <p:pic>
        <p:nvPicPr>
          <p:cNvPr id="12" name="Image 1" descr="icons/cloud_download_amb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547872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508760" y="320954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directly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1508760" y="3520440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6CE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pandas.read_parquet() streams the file straight from the URL — no manual download step.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548640" y="4416552"/>
            <a:ext cx="5120640" cy="1170432"/>
          </a:xfrm>
          <a:prstGeom prst="roundRect">
            <a:avLst>
              <a:gd name="adj" fmla="val 6250"/>
            </a:avLst>
          </a:prstGeom>
          <a:solidFill>
            <a:srgbClr val="F7F5F1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77240" y="4750308"/>
            <a:ext cx="502920" cy="50292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7" name="Image 2" descr="icons/filter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864608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508760" y="452628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complete rows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1508760" y="4837176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row needs a non-empty context, question, and first answer string to qualify.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548640" y="5669280"/>
            <a:ext cx="5120640" cy="1170432"/>
          </a:xfrm>
          <a:prstGeom prst="roundRect">
            <a:avLst>
              <a:gd name="adj" fmla="val 6250"/>
            </a:avLst>
          </a:prstGeom>
          <a:solidFill>
            <a:srgbClr val="F7F5F1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21" name="Shape 16"/>
          <p:cNvSpPr/>
          <p:nvPr/>
        </p:nvSpPr>
        <p:spPr>
          <a:xfrm>
            <a:off x="777240" y="6067044"/>
            <a:ext cx="502920" cy="50292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2" name="Image 3" descr="icons/file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6181344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508760" y="5843016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 raw data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1508760" y="6153912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 triplets are written to indicqa_hindi_raw.json (UTF-8, Hindi script preserved).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080760" y="1783080"/>
            <a:ext cx="5532120" cy="5120640"/>
          </a:xfrm>
          <a:prstGeom prst="roundRect">
            <a:avLst>
              <a:gd name="adj" fmla="val 1786"/>
            </a:avLst>
          </a:prstGeom>
          <a:solidFill>
            <a:srgbClr val="0E7C7B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6" name="Text 20"/>
          <p:cNvSpPr/>
          <p:nvPr/>
        </p:nvSpPr>
        <p:spPr>
          <a:xfrm>
            <a:off x="6080760" y="2148840"/>
            <a:ext cx="5532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1,052</a:t>
            </a:r>
            <a:endParaRPr lang="en-US" sz="6200" dirty="0"/>
          </a:p>
        </p:txBody>
      </p:sp>
      <p:sp>
        <p:nvSpPr>
          <p:cNvPr id="27" name="Text 21"/>
          <p:cNvSpPr/>
          <p:nvPr/>
        </p:nvSpPr>
        <p:spPr>
          <a:xfrm>
            <a:off x="6080760" y="3063240"/>
            <a:ext cx="5532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D8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 examples extracted</a:t>
            </a:r>
            <a:endParaRPr lang="en-US" sz="1400" dirty="0"/>
          </a:p>
        </p:txBody>
      </p:sp>
      <p:sp>
        <p:nvSpPr>
          <p:cNvPr id="28" name="Shape 22"/>
          <p:cNvSpPr/>
          <p:nvPr/>
        </p:nvSpPr>
        <p:spPr>
          <a:xfrm>
            <a:off x="6675120" y="3611880"/>
            <a:ext cx="4343400" cy="0"/>
          </a:xfrm>
          <a:prstGeom prst="line">
            <a:avLst/>
          </a:prstGeom>
          <a:noFill/>
          <a:ln w="12700">
            <a:solidFill>
              <a:srgbClr val="4FA8A6"/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6400800" y="38404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EE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file</a:t>
            </a:r>
            <a:endParaRPr lang="en-US" sz="1150" dirty="0"/>
          </a:p>
        </p:txBody>
      </p:sp>
      <p:sp>
        <p:nvSpPr>
          <p:cNvPr id="30" name="Text 24"/>
          <p:cNvSpPr/>
          <p:nvPr/>
        </p:nvSpPr>
        <p:spPr>
          <a:xfrm>
            <a:off x="8321040" y="38404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test-00000-of-00001.parquet</a:t>
            </a:r>
            <a:endParaRPr lang="en-US" sz="1100" dirty="0"/>
          </a:p>
        </p:txBody>
      </p:sp>
      <p:sp>
        <p:nvSpPr>
          <p:cNvPr id="31" name="Text 25"/>
          <p:cNvSpPr/>
          <p:nvPr/>
        </p:nvSpPr>
        <p:spPr>
          <a:xfrm>
            <a:off x="6400800" y="43434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EE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kept</a:t>
            </a:r>
            <a:endParaRPr lang="en-US" sz="1150" dirty="0"/>
          </a:p>
        </p:txBody>
      </p:sp>
      <p:sp>
        <p:nvSpPr>
          <p:cNvPr id="32" name="Text 26"/>
          <p:cNvSpPr/>
          <p:nvPr/>
        </p:nvSpPr>
        <p:spPr>
          <a:xfrm>
            <a:off x="8321040" y="43434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question · context · answer</a:t>
            </a:r>
            <a:endParaRPr lang="en-US" sz="1100" dirty="0"/>
          </a:p>
        </p:txBody>
      </p:sp>
      <p:sp>
        <p:nvSpPr>
          <p:cNvPr id="33" name="Text 27"/>
          <p:cNvSpPr/>
          <p:nvPr/>
        </p:nvSpPr>
        <p:spPr>
          <a:xfrm>
            <a:off x="6400800" y="48463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EE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150" dirty="0"/>
          </a:p>
        </p:txBody>
      </p:sp>
      <p:sp>
        <p:nvSpPr>
          <p:cNvPr id="34" name="Text 28"/>
          <p:cNvSpPr/>
          <p:nvPr/>
        </p:nvSpPr>
        <p:spPr>
          <a:xfrm>
            <a:off x="8321040" y="4846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indicqa_hindi_raw.json</a:t>
            </a:r>
            <a:endParaRPr lang="en-US" sz="1100" dirty="0"/>
          </a:p>
        </p:txBody>
      </p:sp>
      <p:sp>
        <p:nvSpPr>
          <p:cNvPr id="35" name="Text 29"/>
          <p:cNvSpPr/>
          <p:nvPr/>
        </p:nvSpPr>
        <p:spPr>
          <a:xfrm>
            <a:off x="6400800" y="544068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i="1" dirty="0">
                <a:solidFill>
                  <a:srgbClr val="E4F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missing a context, question, or answer text are silently dropped before saving — keeping every downstream record well-formed.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9BFA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Distilling Context with an LLM Teacher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 3.5-397B-A17B strips each Hindi passage down to only the words needed to answer its question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5120640" cy="4206240"/>
          </a:xfrm>
          <a:prstGeom prst="roundRect">
            <a:avLst>
              <a:gd name="adj" fmla="val 2174"/>
            </a:avLst>
          </a:prstGeom>
          <a:solidFill>
            <a:srgbClr val="1B2A4A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6" name="Image 0" descr="icons/robot_amb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103120"/>
            <a:ext cx="384048" cy="38404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2139696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prompt: three hard rules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68680" y="2697480"/>
            <a:ext cx="457200" cy="457200"/>
          </a:xfrm>
          <a:prstGeom prst="ellipse">
            <a:avLst/>
          </a:prstGeom>
          <a:solidFill>
            <a:srgbClr val="FF9F1C"/>
          </a:solidFill>
          <a:ln/>
        </p:spPr>
      </p:sp>
      <p:sp>
        <p:nvSpPr>
          <p:cNvPr id="9" name="Text 6"/>
          <p:cNvSpPr/>
          <p:nvPr/>
        </p:nvSpPr>
        <p:spPr>
          <a:xfrm>
            <a:off x="86868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1F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463040" y="267004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only compressed Hindi text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463040" y="2990088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C6CE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preambles, no explanations — just the trimmed passage.</a:t>
            </a:r>
            <a:endParaRPr lang="en-US" sz="1080" dirty="0"/>
          </a:p>
        </p:txBody>
      </p:sp>
      <p:sp>
        <p:nvSpPr>
          <p:cNvPr id="12" name="Shape 9"/>
          <p:cNvSpPr/>
          <p:nvPr/>
        </p:nvSpPr>
        <p:spPr>
          <a:xfrm>
            <a:off x="868680" y="3749040"/>
            <a:ext cx="457200" cy="457200"/>
          </a:xfrm>
          <a:prstGeom prst="ellipse">
            <a:avLst/>
          </a:prstGeom>
          <a:solidFill>
            <a:srgbClr val="FF9F1C"/>
          </a:solidFill>
          <a:ln/>
        </p:spPr>
      </p:sp>
      <p:sp>
        <p:nvSpPr>
          <p:cNvPr id="13" name="Text 10"/>
          <p:cNvSpPr/>
          <p:nvPr/>
        </p:nvSpPr>
        <p:spPr>
          <a:xfrm>
            <a:off x="868680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1F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1463040" y="372160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Preserve grammar and language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463040" y="4041648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C6CE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translation, no new words — only removal is allowed.</a:t>
            </a:r>
            <a:endParaRPr lang="en-US" sz="1080" dirty="0"/>
          </a:p>
        </p:txBody>
      </p:sp>
      <p:sp>
        <p:nvSpPr>
          <p:cNvPr id="16" name="Shape 13"/>
          <p:cNvSpPr/>
          <p:nvPr/>
        </p:nvSpPr>
        <p:spPr>
          <a:xfrm>
            <a:off x="868680" y="4800600"/>
            <a:ext cx="457200" cy="457200"/>
          </a:xfrm>
          <a:prstGeom prst="ellipse">
            <a:avLst/>
          </a:prstGeom>
          <a:solidFill>
            <a:srgbClr val="FF9F1C"/>
          </a:solidFill>
          <a:ln/>
        </p:spPr>
      </p:sp>
      <p:sp>
        <p:nvSpPr>
          <p:cNvPr id="17" name="Text 14"/>
          <p:cNvSpPr/>
          <p:nvPr/>
        </p:nvSpPr>
        <p:spPr>
          <a:xfrm>
            <a:off x="868680" y="4800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1F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1463040" y="477316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answer intact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63040" y="5093208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C6CE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exact span needed to answer the question must survive.</a:t>
            </a:r>
            <a:endParaRPr lang="en-US" sz="1080" dirty="0"/>
          </a:p>
        </p:txBody>
      </p:sp>
      <p:sp>
        <p:nvSpPr>
          <p:cNvPr id="20" name="Text 17"/>
          <p:cNvSpPr/>
          <p:nvPr/>
        </p:nvSpPr>
        <p:spPr>
          <a:xfrm>
            <a:off x="868680" y="56235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temperature 0.1  ·  </a:t>
            </a:r>
            <a:r>
              <a:rPr lang="en-US" sz="1000" dirty="0" err="1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top_p</a:t>
            </a:r>
            <a:r>
              <a:rPr lang="en-US" sz="100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0.95  ·  seed 42  ·  max_tokens 2048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5989320" y="182880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before / after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989320" y="224028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4E1D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263640" y="242316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EFECE3"/>
          </a:solidFill>
          <a:ln/>
        </p:spPr>
      </p:sp>
      <p:sp>
        <p:nvSpPr>
          <p:cNvPr id="24" name="Text 21"/>
          <p:cNvSpPr/>
          <p:nvPr/>
        </p:nvSpPr>
        <p:spPr>
          <a:xfrm>
            <a:off x="6263640" y="242316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B6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CONTEXT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263640" y="283464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63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~490 tokens on average — full paragraph with background detail, dates, and surrounding narrative unrelated to the question.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8549640" y="3977640"/>
            <a:ext cx="411480" cy="411480"/>
          </a:xfrm>
          <a:prstGeom prst="ellipse">
            <a:avLst/>
          </a:prstGeom>
          <a:solidFill>
            <a:srgbClr val="FF9F1C"/>
          </a:solidFill>
          <a:ln/>
        </p:spPr>
      </p:sp>
      <p:sp>
        <p:nvSpPr>
          <p:cNvPr id="27" name="Text 24"/>
          <p:cNvSpPr/>
          <p:nvPr/>
        </p:nvSpPr>
        <p:spPr>
          <a:xfrm>
            <a:off x="8549640" y="39136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1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800" dirty="0"/>
          </a:p>
        </p:txBody>
      </p:sp>
      <p:sp>
        <p:nvSpPr>
          <p:cNvPr id="28" name="Shape 25"/>
          <p:cNvSpPr/>
          <p:nvPr/>
        </p:nvSpPr>
        <p:spPr>
          <a:xfrm>
            <a:off x="5989320" y="4480560"/>
            <a:ext cx="5577840" cy="1554480"/>
          </a:xfrm>
          <a:prstGeom prst="roundRect">
            <a:avLst>
              <a:gd name="adj" fmla="val 4706"/>
            </a:avLst>
          </a:prstGeom>
          <a:solidFill>
            <a:srgbClr val="E3F1F0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263640" y="4663440"/>
            <a:ext cx="2148840" cy="329184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/>
        </p:spPr>
      </p:sp>
      <p:sp>
        <p:nvSpPr>
          <p:cNvPr id="30" name="Text 27"/>
          <p:cNvSpPr/>
          <p:nvPr/>
        </p:nvSpPr>
        <p:spPr>
          <a:xfrm>
            <a:off x="6263640" y="4663440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COMPRESSED CONTEXT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6263640" y="507492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 tokens on average — the same words, in the same order, but only the span the answer actually depends on.</a:t>
            </a:r>
            <a:endParaRPr lang="en-US" sz="1150" dirty="0"/>
          </a:p>
        </p:txBody>
      </p:sp>
      <p:sp>
        <p:nvSpPr>
          <p:cNvPr id="32" name="Text 29"/>
          <p:cNvSpPr/>
          <p:nvPr/>
        </p:nvSpPr>
        <p:spPr>
          <a:xfrm>
            <a:off x="5989320" y="6168875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 err="1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compress_context</a:t>
            </a:r>
            <a:r>
              <a:rPr lang="en-US" sz="100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(context, question, client)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9CF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Turning Compression into Supervision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98695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word-by-word alignment pass converts each (original, compressed) pair into binary keep/drop labels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original_context.split()  →  per-word labels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194560"/>
            <a:ext cx="896112" cy="502920"/>
          </a:xfrm>
          <a:prstGeom prst="roundRect">
            <a:avLst>
              <a:gd name="adj" fmla="val 10909"/>
            </a:avLst>
          </a:prstGeom>
          <a:solidFill>
            <a:srgbClr val="0E7C7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94560"/>
            <a:ext cx="8961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महात्मा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2743200"/>
            <a:ext cx="896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591056" y="2194560"/>
            <a:ext cx="896112" cy="502920"/>
          </a:xfrm>
          <a:prstGeom prst="roundRect">
            <a:avLst>
              <a:gd name="adj" fmla="val 10909"/>
            </a:avLst>
          </a:prstGeom>
          <a:solidFill>
            <a:srgbClr val="0E7C7B"/>
          </a:solidFill>
          <a:ln/>
        </p:spPr>
      </p:sp>
      <p:sp>
        <p:nvSpPr>
          <p:cNvPr id="10" name="Text 8"/>
          <p:cNvSpPr/>
          <p:nvPr/>
        </p:nvSpPr>
        <p:spPr>
          <a:xfrm>
            <a:off x="1591056" y="2194560"/>
            <a:ext cx="8961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गांधी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591056" y="2743200"/>
            <a:ext cx="896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542032" y="2194560"/>
            <a:ext cx="896112" cy="502920"/>
          </a:xfrm>
          <a:prstGeom prst="roundRect">
            <a:avLst>
              <a:gd name="adj" fmla="val 10909"/>
            </a:avLst>
          </a:prstGeom>
          <a:solidFill>
            <a:srgbClr val="EDEEF1"/>
          </a:solidFill>
          <a:ln/>
        </p:spPr>
      </p:sp>
      <p:sp>
        <p:nvSpPr>
          <p:cNvPr id="13" name="Text 11"/>
          <p:cNvSpPr/>
          <p:nvPr/>
        </p:nvSpPr>
        <p:spPr>
          <a:xfrm>
            <a:off x="2542032" y="2194560"/>
            <a:ext cx="8961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का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542032" y="2743200"/>
            <a:ext cx="896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AAB2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493008" y="2194560"/>
            <a:ext cx="896112" cy="502920"/>
          </a:xfrm>
          <a:prstGeom prst="roundRect">
            <a:avLst>
              <a:gd name="adj" fmla="val 10909"/>
            </a:avLst>
          </a:prstGeom>
          <a:solidFill>
            <a:srgbClr val="0E7C7B"/>
          </a:solidFill>
          <a:ln/>
        </p:spPr>
      </p:sp>
      <p:sp>
        <p:nvSpPr>
          <p:cNvPr id="16" name="Text 14"/>
          <p:cNvSpPr/>
          <p:nvPr/>
        </p:nvSpPr>
        <p:spPr>
          <a:xfrm>
            <a:off x="3493008" y="2194560"/>
            <a:ext cx="8961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जन्म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493008" y="2743200"/>
            <a:ext cx="896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443984" y="2194560"/>
            <a:ext cx="896112" cy="502920"/>
          </a:xfrm>
          <a:prstGeom prst="roundRect">
            <a:avLst>
              <a:gd name="adj" fmla="val 10909"/>
            </a:avLst>
          </a:prstGeom>
          <a:solidFill>
            <a:srgbClr val="0E7C7B"/>
          </a:solidFill>
          <a:ln/>
        </p:spPr>
      </p:sp>
      <p:sp>
        <p:nvSpPr>
          <p:cNvPr id="19" name="Text 17"/>
          <p:cNvSpPr/>
          <p:nvPr/>
        </p:nvSpPr>
        <p:spPr>
          <a:xfrm>
            <a:off x="4443984" y="2194560"/>
            <a:ext cx="8961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1869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443984" y="2743200"/>
            <a:ext cx="896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394960" y="2194560"/>
            <a:ext cx="896112" cy="502920"/>
          </a:xfrm>
          <a:prstGeom prst="roundRect">
            <a:avLst>
              <a:gd name="adj" fmla="val 10909"/>
            </a:avLst>
          </a:prstGeom>
          <a:solidFill>
            <a:srgbClr val="EDEEF1"/>
          </a:solidFill>
          <a:ln/>
        </p:spPr>
      </p:sp>
      <p:sp>
        <p:nvSpPr>
          <p:cNvPr id="22" name="Text 20"/>
          <p:cNvSpPr/>
          <p:nvPr/>
        </p:nvSpPr>
        <p:spPr>
          <a:xfrm>
            <a:off x="5394960" y="2194560"/>
            <a:ext cx="8961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में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394960" y="2743200"/>
            <a:ext cx="896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AAB2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345936" y="2194560"/>
            <a:ext cx="896112" cy="502920"/>
          </a:xfrm>
          <a:prstGeom prst="roundRect">
            <a:avLst>
              <a:gd name="adj" fmla="val 10909"/>
            </a:avLst>
          </a:prstGeom>
          <a:solidFill>
            <a:srgbClr val="0E7C7B"/>
          </a:solidFill>
          <a:ln/>
        </p:spPr>
      </p:sp>
      <p:sp>
        <p:nvSpPr>
          <p:cNvPr id="25" name="Text 23"/>
          <p:cNvSpPr/>
          <p:nvPr/>
        </p:nvSpPr>
        <p:spPr>
          <a:xfrm>
            <a:off x="6345936" y="2194560"/>
            <a:ext cx="8961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पोरबंदर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345936" y="2743200"/>
            <a:ext cx="896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296912" y="2194560"/>
            <a:ext cx="896112" cy="502920"/>
          </a:xfrm>
          <a:prstGeom prst="roundRect">
            <a:avLst>
              <a:gd name="adj" fmla="val 10909"/>
            </a:avLst>
          </a:prstGeom>
          <a:solidFill>
            <a:srgbClr val="EDEEF1"/>
          </a:solidFill>
          <a:ln/>
        </p:spPr>
      </p:sp>
      <p:sp>
        <p:nvSpPr>
          <p:cNvPr id="28" name="Text 26"/>
          <p:cNvSpPr/>
          <p:nvPr/>
        </p:nvSpPr>
        <p:spPr>
          <a:xfrm>
            <a:off x="7296912" y="2194560"/>
            <a:ext cx="8961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में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296912" y="2743200"/>
            <a:ext cx="896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AAB2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247888" y="2194560"/>
            <a:ext cx="896112" cy="502920"/>
          </a:xfrm>
          <a:prstGeom prst="roundRect">
            <a:avLst>
              <a:gd name="adj" fmla="val 10909"/>
            </a:avLst>
          </a:prstGeom>
          <a:solidFill>
            <a:srgbClr val="EDEEF1"/>
          </a:solidFill>
          <a:ln/>
        </p:spPr>
      </p:sp>
      <p:sp>
        <p:nvSpPr>
          <p:cNvPr id="31" name="Text 29"/>
          <p:cNvSpPr/>
          <p:nvPr/>
        </p:nvSpPr>
        <p:spPr>
          <a:xfrm>
            <a:off x="8247888" y="2194560"/>
            <a:ext cx="8961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हुआ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247888" y="2743200"/>
            <a:ext cx="896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AAB2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9198864" y="2194560"/>
            <a:ext cx="896112" cy="502920"/>
          </a:xfrm>
          <a:prstGeom prst="roundRect">
            <a:avLst>
              <a:gd name="adj" fmla="val 10909"/>
            </a:avLst>
          </a:prstGeom>
          <a:solidFill>
            <a:srgbClr val="EDEEF1"/>
          </a:solidFill>
          <a:ln/>
        </p:spPr>
      </p:sp>
      <p:sp>
        <p:nvSpPr>
          <p:cNvPr id="34" name="Text 32"/>
          <p:cNvSpPr/>
          <p:nvPr/>
        </p:nvSpPr>
        <p:spPr>
          <a:xfrm>
            <a:off x="9198864" y="2194560"/>
            <a:ext cx="8961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था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9198864" y="2743200"/>
            <a:ext cx="896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AAB2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40080" y="3246120"/>
            <a:ext cx="3017520" cy="329184"/>
          </a:xfrm>
          <a:prstGeom prst="roundRect">
            <a:avLst>
              <a:gd name="adj" fmla="val 50000"/>
            </a:avLst>
          </a:prstGeom>
          <a:solidFill>
            <a:srgbClr val="E3F1F0"/>
          </a:solidFill>
          <a:ln/>
        </p:spPr>
      </p:sp>
      <p:sp>
        <p:nvSpPr>
          <p:cNvPr id="37" name="Text 35"/>
          <p:cNvSpPr/>
          <p:nvPr/>
        </p:nvSpPr>
        <p:spPr>
          <a:xfrm>
            <a:off x="640080" y="3246120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= kept (aligned with compressed output)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3749040" y="3246120"/>
            <a:ext cx="2651760" cy="329184"/>
          </a:xfrm>
          <a:prstGeom prst="roundRect">
            <a:avLst>
              <a:gd name="adj" fmla="val 50000"/>
            </a:avLst>
          </a:prstGeom>
          <a:solidFill>
            <a:srgbClr val="EDEEF1"/>
          </a:solidFill>
          <a:ln/>
        </p:spPr>
      </p:sp>
      <p:sp>
        <p:nvSpPr>
          <p:cNvPr id="39" name="Text 37"/>
          <p:cNvSpPr/>
          <p:nvPr/>
        </p:nvSpPr>
        <p:spPr>
          <a:xfrm>
            <a:off x="3749040" y="324612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= dropped by the compressor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48640" y="3886200"/>
            <a:ext cx="5486400" cy="2423160"/>
          </a:xfrm>
          <a:prstGeom prst="roundRect">
            <a:avLst>
              <a:gd name="adj" fmla="val 3774"/>
            </a:avLst>
          </a:prstGeom>
          <a:solidFill>
            <a:srgbClr val="F7F5F1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41" name="Image 0" descr="icons/tags_amb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114800"/>
            <a:ext cx="329184" cy="329184"/>
          </a:xfrm>
          <a:prstGeom prst="rect">
            <a:avLst/>
          </a:prstGeom>
        </p:spPr>
      </p:pic>
      <p:sp>
        <p:nvSpPr>
          <p:cNvPr id="42" name="Text 39"/>
          <p:cNvSpPr/>
          <p:nvPr/>
        </p:nvSpPr>
        <p:spPr>
          <a:xfrm>
            <a:off x="1280160" y="413308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dirty="0" err="1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align_tokens</a:t>
            </a:r>
            <a:r>
              <a:rPr lang="en-US" sz="1250" b="1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(original, compressed)</a:t>
            </a:r>
            <a:endParaRPr lang="en-US" sz="1250" dirty="0"/>
          </a:p>
        </p:txBody>
      </p:sp>
      <p:sp>
        <p:nvSpPr>
          <p:cNvPr id="43" name="Text 40"/>
          <p:cNvSpPr/>
          <p:nvPr/>
        </p:nvSpPr>
        <p:spPr>
          <a:xfrm>
            <a:off x="822960" y="457200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63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Splits both texts into whitespace-delimited tokens.</a:t>
            </a:r>
            <a:endParaRPr lang="en-US" sz="115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63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Walks the original tokens in order, advancing a pointer through the compressed tokens whenever it finds a match.</a:t>
            </a:r>
            <a:endParaRPr lang="en-US" sz="115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63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match → label 1 (kept); no match → label 0 (dropped) — producing a label sequence the same length as the original context.</a:t>
            </a:r>
            <a:endParaRPr lang="en-US" sz="1150" dirty="0"/>
          </a:p>
        </p:txBody>
      </p:sp>
      <p:sp>
        <p:nvSpPr>
          <p:cNvPr id="44" name="Shape 41"/>
          <p:cNvSpPr/>
          <p:nvPr/>
        </p:nvSpPr>
        <p:spPr>
          <a:xfrm>
            <a:off x="6309360" y="3886200"/>
            <a:ext cx="5257800" cy="2423160"/>
          </a:xfrm>
          <a:prstGeom prst="roundRect">
            <a:avLst>
              <a:gd name="adj" fmla="val 3774"/>
            </a:avLst>
          </a:prstGeom>
          <a:solidFill>
            <a:srgbClr val="1B2A4A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45" name="Image 1" descr="icons/languag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4114800"/>
            <a:ext cx="329184" cy="329184"/>
          </a:xfrm>
          <a:prstGeom prst="rect">
            <a:avLst/>
          </a:prstGeom>
        </p:spPr>
      </p:pic>
      <p:sp>
        <p:nvSpPr>
          <p:cNvPr id="46" name="Text 42"/>
          <p:cNvSpPr/>
          <p:nvPr/>
        </p:nvSpPr>
        <p:spPr>
          <a:xfrm>
            <a:off x="7040880" y="413308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token-level labels</a:t>
            </a:r>
            <a:endParaRPr lang="en-US" sz="1400" dirty="0"/>
          </a:p>
        </p:txBody>
      </p:sp>
      <p:sp>
        <p:nvSpPr>
          <p:cNvPr id="47" name="Text 43"/>
          <p:cNvSpPr/>
          <p:nvPr/>
        </p:nvSpPr>
        <p:spPr>
          <a:xfrm>
            <a:off x="6583680" y="4572000"/>
            <a:ext cx="4754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6CE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Reframes compression as sequence labelling — a lightweight classifier can learn to predict keep/drop per token.</a:t>
            </a:r>
            <a:endParaRPr lang="en-US" sz="115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6CE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 the need to call a large LLM at inference time once a student model is trained on this signal.</a:t>
            </a:r>
            <a:endParaRPr lang="en-US" sz="115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6CE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row of the final dataset stores tokens + labels + the original answer for evaluation.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9BFA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Orchestrating the Full Pipeline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resumable, retry-safe loop turns 1,052 raw rows into a clean, split training corpus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502920" cy="502920"/>
          </a:xfrm>
          <a:prstGeom prst="ellipse">
            <a:avLst/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6" name="Image 0" descr="icons/redo_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943100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34440" y="181051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Auto-resume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1234440" y="2121408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 existing lines in master_processed_data.jsonl and restarts from the next unprocessed row.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880360"/>
            <a:ext cx="502920" cy="502920"/>
          </a:xfrm>
          <a:prstGeom prst="ellipse">
            <a:avLst/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0" name="Image 1" descr="icons/cogs_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299466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234440" y="28620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with backoff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1234440" y="3172968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5 attempts per row with growing wait times if the API rate-limits a request.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3931920"/>
            <a:ext cx="502920" cy="502920"/>
          </a:xfrm>
          <a:prstGeom prst="ellipse">
            <a:avLst/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4" name="Image 2" descr="icons/file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046220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234440" y="391363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Write-through saving</a:t>
            </a:r>
            <a:endParaRPr lang="en-US" sz="1350" dirty="0"/>
          </a:p>
        </p:txBody>
      </p:sp>
      <p:sp>
        <p:nvSpPr>
          <p:cNvPr id="16" name="Text 11"/>
          <p:cNvSpPr/>
          <p:nvPr/>
        </p:nvSpPr>
        <p:spPr>
          <a:xfrm>
            <a:off x="1234440" y="4224528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row is flushed to disk immediately after processing, so no progress is lost mid-run.</a:t>
            </a:r>
            <a:endParaRPr lang="en-US" sz="1100" dirty="0"/>
          </a:p>
        </p:txBody>
      </p:sp>
      <p:sp>
        <p:nvSpPr>
          <p:cNvPr id="17" name="Text 12"/>
          <p:cNvSpPr/>
          <p:nvPr/>
        </p:nvSpPr>
        <p:spPr>
          <a:xfrm>
            <a:off x="548640" y="50749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80" i="1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1,052 → 987 rows survived processing (a handful skipped on unrecoverable errors, e.g. empty model output).</a:t>
            </a:r>
            <a:endParaRPr lang="en-US" sz="1080" dirty="0"/>
          </a:p>
        </p:txBody>
      </p:sp>
      <p:sp>
        <p:nvSpPr>
          <p:cNvPr id="18" name="Shape 13"/>
          <p:cNvSpPr/>
          <p:nvPr/>
        </p:nvSpPr>
        <p:spPr>
          <a:xfrm>
            <a:off x="6400800" y="1828800"/>
            <a:ext cx="5257800" cy="4206240"/>
          </a:xfrm>
          <a:prstGeom prst="roundRect">
            <a:avLst>
              <a:gd name="adj" fmla="val 2174"/>
            </a:avLst>
          </a:prstGeom>
          <a:solidFill>
            <a:srgbClr val="1B2A4A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9" name="Image 3" descr="icons/layer_amb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20840" y="2103120"/>
            <a:ext cx="347472" cy="347472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7223760" y="213055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/ 20 train-validation split</a:t>
            </a:r>
            <a:endParaRPr lang="en-US" sz="1450" dirty="0"/>
          </a:p>
        </p:txBody>
      </p:sp>
      <p:sp>
        <p:nvSpPr>
          <p:cNvPr id="21" name="Text 15"/>
          <p:cNvSpPr/>
          <p:nvPr/>
        </p:nvSpPr>
        <p:spPr>
          <a:xfrm>
            <a:off x="6720840" y="251460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random.shuffle(seed=42)  →  deterministic, reproducible split</a:t>
            </a:r>
            <a:endParaRPr lang="en-US" sz="950" dirty="0"/>
          </a:p>
        </p:txBody>
      </p:sp>
      <p:sp>
        <p:nvSpPr>
          <p:cNvPr id="22" name="Shape 16"/>
          <p:cNvSpPr/>
          <p:nvPr/>
        </p:nvSpPr>
        <p:spPr>
          <a:xfrm>
            <a:off x="6720840" y="3063240"/>
            <a:ext cx="3691369" cy="502920"/>
          </a:xfrm>
          <a:prstGeom prst="rect">
            <a:avLst/>
          </a:prstGeom>
          <a:solidFill>
            <a:srgbClr val="FF9F1C"/>
          </a:solidFill>
          <a:ln/>
        </p:spPr>
      </p:sp>
      <p:sp>
        <p:nvSpPr>
          <p:cNvPr id="23" name="Shape 17"/>
          <p:cNvSpPr/>
          <p:nvPr/>
        </p:nvSpPr>
        <p:spPr>
          <a:xfrm>
            <a:off x="10412209" y="3063240"/>
            <a:ext cx="926351" cy="50292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24" name="Text 18"/>
          <p:cNvSpPr/>
          <p:nvPr/>
        </p:nvSpPr>
        <p:spPr>
          <a:xfrm>
            <a:off x="6720840" y="3657600"/>
            <a:ext cx="369136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9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789</a:t>
            </a:r>
            <a:endParaRPr lang="en-US" sz="2000" dirty="0"/>
          </a:p>
        </p:txBody>
      </p:sp>
      <p:sp>
        <p:nvSpPr>
          <p:cNvPr id="25" name="Text 19"/>
          <p:cNvSpPr/>
          <p:nvPr/>
        </p:nvSpPr>
        <p:spPr>
          <a:xfrm>
            <a:off x="6720840" y="4023360"/>
            <a:ext cx="36913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6CE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(80%)</a:t>
            </a:r>
            <a:endParaRPr lang="en-US" sz="1050" dirty="0"/>
          </a:p>
        </p:txBody>
      </p:sp>
      <p:sp>
        <p:nvSpPr>
          <p:cNvPr id="26" name="Text 20"/>
          <p:cNvSpPr/>
          <p:nvPr/>
        </p:nvSpPr>
        <p:spPr>
          <a:xfrm>
            <a:off x="10412209" y="3657600"/>
            <a:ext cx="92635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198</a:t>
            </a:r>
            <a:endParaRPr lang="en-US" sz="2000" dirty="0"/>
          </a:p>
        </p:txBody>
      </p:sp>
      <p:sp>
        <p:nvSpPr>
          <p:cNvPr id="27" name="Text 21"/>
          <p:cNvSpPr/>
          <p:nvPr/>
        </p:nvSpPr>
        <p:spPr>
          <a:xfrm>
            <a:off x="10412209" y="4023360"/>
            <a:ext cx="9263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6CE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 (20%)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6720840" y="4343400"/>
            <a:ext cx="4617720" cy="0"/>
          </a:xfrm>
          <a:prstGeom prst="line">
            <a:avLst/>
          </a:prstGeom>
          <a:noFill/>
          <a:ln w="12700">
            <a:solidFill>
              <a:srgbClr val="3B4A6B"/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6720840" y="45720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processed</a:t>
            </a:r>
            <a:endParaRPr lang="en-US" sz="1150" dirty="0"/>
          </a:p>
        </p:txBody>
      </p:sp>
      <p:sp>
        <p:nvSpPr>
          <p:cNvPr id="30" name="Text 24"/>
          <p:cNvSpPr/>
          <p:nvPr/>
        </p:nvSpPr>
        <p:spPr>
          <a:xfrm>
            <a:off x="9144000" y="45720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987 rows</a:t>
            </a:r>
            <a:endParaRPr lang="en-US" sz="1150" dirty="0"/>
          </a:p>
        </p:txBody>
      </p:sp>
      <p:sp>
        <p:nvSpPr>
          <p:cNvPr id="31" name="Text 25"/>
          <p:cNvSpPr/>
          <p:nvPr/>
        </p:nvSpPr>
        <p:spPr>
          <a:xfrm>
            <a:off x="6720840" y="50292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train_indicqa.jsonl</a:t>
            </a:r>
            <a:endParaRPr lang="en-US" sz="1150" dirty="0"/>
          </a:p>
        </p:txBody>
      </p:sp>
      <p:sp>
        <p:nvSpPr>
          <p:cNvPr id="32" name="Text 26"/>
          <p:cNvSpPr/>
          <p:nvPr/>
        </p:nvSpPr>
        <p:spPr>
          <a:xfrm>
            <a:off x="9144000" y="50292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789 rows</a:t>
            </a:r>
            <a:endParaRPr lang="en-US" sz="1150" dirty="0"/>
          </a:p>
        </p:txBody>
      </p:sp>
      <p:sp>
        <p:nvSpPr>
          <p:cNvPr id="33" name="Text 27"/>
          <p:cNvSpPr/>
          <p:nvPr/>
        </p:nvSpPr>
        <p:spPr>
          <a:xfrm>
            <a:off x="6720840" y="5486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val_indicqa.jsonl</a:t>
            </a:r>
            <a:endParaRPr lang="en-US" sz="1150" dirty="0"/>
          </a:p>
        </p:txBody>
      </p:sp>
      <p:sp>
        <p:nvSpPr>
          <p:cNvPr id="34" name="Text 28"/>
          <p:cNvSpPr/>
          <p:nvPr/>
        </p:nvSpPr>
        <p:spPr>
          <a:xfrm>
            <a:off x="9144000" y="54864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198 rows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57447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454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 Validation Results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how much the compressor shrinks context, and whether the answer still survives</a:t>
            </a:r>
            <a:endParaRPr lang="en-US" sz="1300" dirty="0"/>
          </a:p>
        </p:txBody>
      </p:sp>
      <p:graphicFrame>
        <p:nvGraphicFramePr>
          <p:cNvPr id="5" name="Chart 0"/>
          <p:cNvGraphicFramePr/>
          <p:nvPr>
            <p:extLst>
              <p:ext uri="{D42A27DB-BD31-4B8C-83A1-F6EECF244321}">
                <p14:modId xmlns:p14="http://schemas.microsoft.com/office/powerpoint/2010/main" val="3037350310"/>
              </p:ext>
            </p:extLst>
          </p:nvPr>
        </p:nvGraphicFramePr>
        <p:xfrm>
          <a:off x="407324" y="1968454"/>
          <a:ext cx="5760720" cy="3108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6446520" y="1938528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22315A"/>
          </a:solidFill>
          <a:ln/>
        </p:spPr>
      </p:sp>
      <p:sp>
        <p:nvSpPr>
          <p:cNvPr id="7" name="Text 4"/>
          <p:cNvSpPr/>
          <p:nvPr/>
        </p:nvSpPr>
        <p:spPr>
          <a:xfrm>
            <a:off x="6812280" y="196596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9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96.0%</a:t>
            </a:r>
            <a:endParaRPr lang="en-US" sz="2700" dirty="0"/>
          </a:p>
        </p:txBody>
      </p:sp>
      <p:sp>
        <p:nvSpPr>
          <p:cNvPr id="8" name="Text 5"/>
          <p:cNvSpPr/>
          <p:nvPr/>
        </p:nvSpPr>
        <p:spPr>
          <a:xfrm>
            <a:off x="6812280" y="248716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compression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812280" y="2761488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498 → 19 tokens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9403080" y="1938528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22315A"/>
          </a:solidFill>
          <a:ln/>
        </p:spPr>
      </p:sp>
      <p:sp>
        <p:nvSpPr>
          <p:cNvPr id="11" name="Text 8"/>
          <p:cNvSpPr/>
          <p:nvPr/>
        </p:nvSpPr>
        <p:spPr>
          <a:xfrm>
            <a:off x="9784080" y="196596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9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96.0%</a:t>
            </a:r>
            <a:endParaRPr lang="en-US" sz="2700" dirty="0"/>
          </a:p>
        </p:txBody>
      </p:sp>
      <p:sp>
        <p:nvSpPr>
          <p:cNvPr id="12" name="Text 9"/>
          <p:cNvSpPr/>
          <p:nvPr/>
        </p:nvSpPr>
        <p:spPr>
          <a:xfrm>
            <a:off x="9784080" y="248716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compression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9784080" y="2761488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489 → 20 tokens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490162" y="3397411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22315A"/>
          </a:solidFill>
          <a:ln/>
        </p:spPr>
      </p:sp>
      <p:sp>
        <p:nvSpPr>
          <p:cNvPr id="15" name="Text 12"/>
          <p:cNvSpPr/>
          <p:nvPr/>
        </p:nvSpPr>
        <p:spPr>
          <a:xfrm>
            <a:off x="6812280" y="34747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9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90.0%</a:t>
            </a:r>
            <a:endParaRPr lang="en-US" sz="2700" dirty="0"/>
          </a:p>
        </p:txBody>
      </p:sp>
      <p:sp>
        <p:nvSpPr>
          <p:cNvPr id="16" name="Text 13"/>
          <p:cNvSpPr/>
          <p:nvPr/>
        </p:nvSpPr>
        <p:spPr>
          <a:xfrm>
            <a:off x="6812280" y="399592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answer retention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812280" y="4270248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text present post-compression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9403080" y="342900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22315A"/>
          </a:solidFill>
          <a:ln/>
        </p:spPr>
      </p:sp>
      <p:sp>
        <p:nvSpPr>
          <p:cNvPr id="19" name="Text 16"/>
          <p:cNvSpPr/>
          <p:nvPr/>
        </p:nvSpPr>
        <p:spPr>
          <a:xfrm>
            <a:off x="9784080" y="34747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9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91.9%</a:t>
            </a:r>
            <a:endParaRPr lang="en-US" sz="2700" dirty="0"/>
          </a:p>
        </p:txBody>
      </p:sp>
      <p:sp>
        <p:nvSpPr>
          <p:cNvPr id="20" name="Text 17"/>
          <p:cNvSpPr/>
          <p:nvPr/>
        </p:nvSpPr>
        <p:spPr>
          <a:xfrm>
            <a:off x="9784080" y="399592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answer retention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9784080" y="4270248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text present post-compression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1600200" y="5349240"/>
            <a:ext cx="9784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782</Words>
  <Application>Microsoft Office PowerPoint</Application>
  <PresentationFormat>Widescreen</PresentationFormat>
  <Paragraphs>135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Query-Aware Context Compression for Hindi QA</dc:title>
  <dc:subject>PptxGenJS Presentation</dc:subject>
  <dc:creator>Data Science AI Lab</dc:creator>
  <cp:lastModifiedBy>Hitesh Binjrawat</cp:lastModifiedBy>
  <cp:revision>3</cp:revision>
  <dcterms:created xsi:type="dcterms:W3CDTF">2026-07-08T15:44:20Z</dcterms:created>
  <dcterms:modified xsi:type="dcterms:W3CDTF">2026-07-12T02:23:39Z</dcterms:modified>
</cp:coreProperties>
</file>