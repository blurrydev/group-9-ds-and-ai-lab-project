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tesh Binjrawat" userId="dd94bfdbcf3b553c" providerId="LiveId" clId="{DEC7D341-F93A-42D7-932B-4BCD881941E7}"/>
    <pc:docChg chg="undo custSel modSld">
      <pc:chgData name="Hitesh Binjrawat" userId="dd94bfdbcf3b553c" providerId="LiveId" clId="{DEC7D341-F93A-42D7-932B-4BCD881941E7}" dt="2026-07-09T16:38:20.862" v="11" actId="1035"/>
      <pc:docMkLst>
        <pc:docMk/>
      </pc:docMkLst>
      <pc:sldChg chg="modSp mod">
        <pc:chgData name="Hitesh Binjrawat" userId="dd94bfdbcf3b553c" providerId="LiveId" clId="{DEC7D341-F93A-42D7-932B-4BCD881941E7}" dt="2026-07-09T16:36:24.489" v="4" actId="1076"/>
        <pc:sldMkLst>
          <pc:docMk/>
          <pc:sldMk cId="0" sldId="257"/>
        </pc:sldMkLst>
        <pc:spChg chg="mod">
          <ac:chgData name="Hitesh Binjrawat" userId="dd94bfdbcf3b553c" providerId="LiveId" clId="{DEC7D341-F93A-42D7-932B-4BCD881941E7}" dt="2026-07-09T16:36:24.489" v="4" actId="1076"/>
          <ac:spMkLst>
            <pc:docMk/>
            <pc:sldMk cId="0" sldId="257"/>
            <ac:spMk id="20" creationId="{00000000-0000-0000-0000-000000000000}"/>
          </ac:spMkLst>
        </pc:spChg>
      </pc:sldChg>
      <pc:sldChg chg="addSp delSp modSp mod">
        <pc:chgData name="Hitesh Binjrawat" userId="dd94bfdbcf3b553c" providerId="LiveId" clId="{DEC7D341-F93A-42D7-932B-4BCD881941E7}" dt="2026-07-09T16:38:20.862" v="11" actId="1035"/>
        <pc:sldMkLst>
          <pc:docMk/>
          <pc:sldMk cId="0" sldId="261"/>
        </pc:sldMkLst>
        <pc:spChg chg="mod">
          <ac:chgData name="Hitesh Binjrawat" userId="dd94bfdbcf3b553c" providerId="LiveId" clId="{DEC7D341-F93A-42D7-932B-4BCD881941E7}" dt="2026-07-08T15:53:15.302" v="2" actId="1036"/>
          <ac:spMkLst>
            <pc:docMk/>
            <pc:sldMk cId="0" sldId="261"/>
            <ac:spMk id="2" creationId="{00000000-0000-0000-0000-000000000000}"/>
          </ac:spMkLst>
        </pc:spChg>
        <pc:spChg chg="add del mod">
          <ac:chgData name="Hitesh Binjrawat" userId="dd94bfdbcf3b553c" providerId="LiveId" clId="{DEC7D341-F93A-42D7-932B-4BCD881941E7}" dt="2026-07-09T16:38:20.862" v="11" actId="1035"/>
          <ac:spMkLst>
            <pc:docMk/>
            <pc:sldMk cId="0" sldId="261"/>
            <ac:spMk id="2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Arial"/>
              </a:rPr>
              <a:t>Average Context Length: Before vs After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(avg tokens)</c:v>
                </c:pt>
              </c:strCache>
            </c:strRef>
          </c:tx>
          <c:spPr>
            <a:solidFill>
              <a:srgbClr val="3B4A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Train</c:v>
                </c:pt>
                <c:pt idx="1">
                  <c:v>Validation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498</c:v>
                </c:pt>
                <c:pt idx="1">
                  <c:v>489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E-4716-AC92-4F404DE155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Compressed (avg tokens)</c:v>
                </c:pt>
              </c:strCache>
            </c:strRef>
          </c:tx>
          <c:spPr>
            <a:solidFill>
              <a:srgbClr val="FF9F1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Train</c:v>
                </c:pt>
                <c:pt idx="1">
                  <c:v>Validation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E-4716-AC92-4F404DE155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B4A6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9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B4A6B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9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A4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C6CEDD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B2A4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445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5212080"/>
            <a:ext cx="685800" cy="685800"/>
          </a:xfrm>
          <a:prstGeom prst="ellipse">
            <a:avLst/>
          </a:prstGeom>
          <a:solidFill>
            <a:srgbClr val="141F38"/>
          </a:solidFill>
          <a:ln w="15875">
            <a:solidFill>
              <a:srgbClr val="FF9F1C"/>
            </a:solidFill>
            <a:prstDash val="solid"/>
          </a:ln>
        </p:spPr>
      </p:sp>
      <p:pic>
        <p:nvPicPr>
          <p:cNvPr id="3" name="Image 0" descr="icons/cloud_download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76" y="5385816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59618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2148840" y="5554980"/>
            <a:ext cx="1508760" cy="0"/>
          </a:xfrm>
          <a:prstGeom prst="line">
            <a:avLst/>
          </a:prstGeom>
          <a:noFill/>
          <a:ln w="19050">
            <a:solidFill>
              <a:srgbClr val="3B4A6B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3657600" y="5212080"/>
            <a:ext cx="685800" cy="685800"/>
          </a:xfrm>
          <a:prstGeom prst="ellipse">
            <a:avLst/>
          </a:prstGeom>
          <a:solidFill>
            <a:srgbClr val="141F38"/>
          </a:solidFill>
          <a:ln w="15875">
            <a:solidFill>
              <a:srgbClr val="FF9F1C"/>
            </a:solidFill>
            <a:prstDash val="solid"/>
          </a:ln>
        </p:spPr>
      </p:sp>
      <p:pic>
        <p:nvPicPr>
          <p:cNvPr id="7" name="Image 1" descr="icons/robot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336" y="5385816"/>
            <a:ext cx="338328" cy="338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37560" y="59618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343400" y="5554980"/>
            <a:ext cx="1508760" cy="0"/>
          </a:xfrm>
          <a:prstGeom prst="line">
            <a:avLst/>
          </a:prstGeom>
          <a:noFill/>
          <a:ln w="19050">
            <a:solidFill>
              <a:srgbClr val="3B4A6B"/>
            </a:solidFill>
            <a:prstDash val="sysDot"/>
          </a:ln>
        </p:spPr>
      </p:sp>
      <p:sp>
        <p:nvSpPr>
          <p:cNvPr id="10" name="Shape 6"/>
          <p:cNvSpPr/>
          <p:nvPr/>
        </p:nvSpPr>
        <p:spPr>
          <a:xfrm>
            <a:off x="5852160" y="5212080"/>
            <a:ext cx="685800" cy="685800"/>
          </a:xfrm>
          <a:prstGeom prst="ellipse">
            <a:avLst/>
          </a:prstGeom>
          <a:solidFill>
            <a:srgbClr val="141F38"/>
          </a:solidFill>
          <a:ln w="15875">
            <a:solidFill>
              <a:srgbClr val="FF9F1C"/>
            </a:solidFill>
            <a:prstDash val="solid"/>
          </a:ln>
        </p:spPr>
      </p:sp>
      <p:pic>
        <p:nvPicPr>
          <p:cNvPr id="11" name="Image 2" descr="icons/tags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5896" y="5385816"/>
            <a:ext cx="338328" cy="3383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32120" y="59618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537960" y="5554980"/>
            <a:ext cx="1508760" cy="0"/>
          </a:xfrm>
          <a:prstGeom prst="line">
            <a:avLst/>
          </a:prstGeom>
          <a:noFill/>
          <a:ln w="19050">
            <a:solidFill>
              <a:srgbClr val="3B4A6B"/>
            </a:solidFill>
            <a:prstDash val="sysDot"/>
          </a:ln>
        </p:spPr>
      </p:sp>
      <p:sp>
        <p:nvSpPr>
          <p:cNvPr id="14" name="Shape 9"/>
          <p:cNvSpPr/>
          <p:nvPr/>
        </p:nvSpPr>
        <p:spPr>
          <a:xfrm>
            <a:off x="8046720" y="5212080"/>
            <a:ext cx="685800" cy="685800"/>
          </a:xfrm>
          <a:prstGeom prst="ellipse">
            <a:avLst/>
          </a:prstGeom>
          <a:solidFill>
            <a:srgbClr val="141F38"/>
          </a:solidFill>
          <a:ln w="15875">
            <a:solidFill>
              <a:srgbClr val="FF9F1C"/>
            </a:solidFill>
            <a:prstDash val="solid"/>
          </a:ln>
        </p:spPr>
      </p:sp>
      <p:pic>
        <p:nvPicPr>
          <p:cNvPr id="15" name="Image 3" descr="icons/layer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0456" y="5385816"/>
            <a:ext cx="338328" cy="33832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726680" y="59618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8732520" y="5554980"/>
            <a:ext cx="1508760" cy="0"/>
          </a:xfrm>
          <a:prstGeom prst="line">
            <a:avLst/>
          </a:prstGeom>
          <a:noFill/>
          <a:ln w="19050">
            <a:solidFill>
              <a:srgbClr val="3B4A6B"/>
            </a:solidFill>
            <a:prstDash val="sysDot"/>
          </a:ln>
        </p:spPr>
      </p:sp>
      <p:sp>
        <p:nvSpPr>
          <p:cNvPr id="18" name="Shape 12"/>
          <p:cNvSpPr/>
          <p:nvPr/>
        </p:nvSpPr>
        <p:spPr>
          <a:xfrm>
            <a:off x="10241280" y="5212080"/>
            <a:ext cx="685800" cy="685800"/>
          </a:xfrm>
          <a:prstGeom prst="ellipse">
            <a:avLst/>
          </a:prstGeom>
          <a:solidFill>
            <a:srgbClr val="141F38"/>
          </a:solidFill>
          <a:ln w="15875">
            <a:solidFill>
              <a:srgbClr val="FF9F1C"/>
            </a:solidFill>
            <a:prstDash val="solid"/>
          </a:ln>
        </p:spPr>
      </p:sp>
      <p:pic>
        <p:nvPicPr>
          <p:cNvPr id="19" name="Image 4" descr="icons/chart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5016" y="5385816"/>
            <a:ext cx="338328" cy="33832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921240" y="59618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1463040" y="914400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2A3A5C"/>
          </a:solidFill>
          <a:ln/>
        </p:spPr>
      </p:sp>
      <p:sp>
        <p:nvSpPr>
          <p:cNvPr id="22" name="Text 15"/>
          <p:cNvSpPr/>
          <p:nvPr/>
        </p:nvSpPr>
        <p:spPr>
          <a:xfrm>
            <a:off x="1463040" y="9144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·  AI LAB PROJECT  ·  MILESTONE 2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1463040" y="160020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Query-Aware Context Compression</a:t>
            </a:r>
            <a:endParaRPr lang="en-US" sz="4000" dirty="0"/>
          </a:p>
        </p:txBody>
      </p:sp>
      <p:sp>
        <p:nvSpPr>
          <p:cNvPr id="24" name="Text 17"/>
          <p:cNvSpPr/>
          <p:nvPr/>
        </p:nvSpPr>
        <p:spPr>
          <a:xfrm>
            <a:off x="1463040" y="233172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Hindi Question Answering</a:t>
            </a:r>
            <a:endParaRPr lang="en-US" sz="2800" dirty="0"/>
          </a:p>
        </p:txBody>
      </p:sp>
      <p:sp>
        <p:nvSpPr>
          <p:cNvPr id="25" name="Text 18"/>
          <p:cNvSpPr/>
          <p:nvPr/>
        </p:nvSpPr>
        <p:spPr>
          <a:xfrm>
            <a:off x="1463040" y="32004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6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supervised token-labelling dataset by distilling long Hindi contexts into minimal, answer-preserving spans using an LLM teacher.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1463040" y="4160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1,052</a:t>
            </a:r>
            <a:endParaRPr lang="en-US" sz="3000" dirty="0"/>
          </a:p>
        </p:txBody>
      </p:sp>
      <p:sp>
        <p:nvSpPr>
          <p:cNvPr id="27" name="Text 20"/>
          <p:cNvSpPr/>
          <p:nvPr/>
        </p:nvSpPr>
        <p:spPr>
          <a:xfrm>
            <a:off x="1463040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QA examples fetched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4206240" y="4160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3000" dirty="0"/>
          </a:p>
        </p:txBody>
      </p:sp>
      <p:sp>
        <p:nvSpPr>
          <p:cNvPr id="29" name="Text 22"/>
          <p:cNvSpPr/>
          <p:nvPr/>
        </p:nvSpPr>
        <p:spPr>
          <a:xfrm>
            <a:off x="4206240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prompt-size reduction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6949440" y="4160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91.9%</a:t>
            </a:r>
            <a:endParaRPr lang="en-US" sz="3000" dirty="0"/>
          </a:p>
        </p:txBody>
      </p:sp>
      <p:sp>
        <p:nvSpPr>
          <p:cNvPr id="31" name="Text 24"/>
          <p:cNvSpPr/>
          <p:nvPr/>
        </p:nvSpPr>
        <p:spPr>
          <a:xfrm>
            <a:off x="6949440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retention (val)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14630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IndicQA (ai4bharat)   ·   Teacher model: Qwen 3.5-397B-A17B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CF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Sourcing the IndicQA Hindi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question–context–answer triplets directly from the Hugging Face Parquet export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F7F5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16836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7" name="Image 0" descr="icons/databas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3113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928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source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8760" y="220370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auto-converted Parquet file for the Hindi subset of ai4bharat/IndicQA on Hugging Face.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099816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3433572"/>
            <a:ext cx="502920" cy="502920"/>
          </a:xfrm>
          <a:prstGeom prst="ellipse">
            <a:avLst/>
          </a:prstGeom>
          <a:solidFill>
            <a:srgbClr val="FF9F1C"/>
          </a:solidFill>
          <a:ln/>
        </p:spPr>
      </p:sp>
      <p:pic>
        <p:nvPicPr>
          <p:cNvPr id="12" name="Image 1" descr="icons/cloud_download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4787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32095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directly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508760" y="35204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6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pandas.read_parquet() streams the file straight from the URL — no manual download step.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4416552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F7F5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4750308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7" name="Image 2" descr="icons/filt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86460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526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complete rows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508760" y="483717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needs a non-empty context, question, and first answer string to qualify.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5669280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F7F5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1" name="Shape 16"/>
          <p:cNvSpPr/>
          <p:nvPr/>
        </p:nvSpPr>
        <p:spPr>
          <a:xfrm>
            <a:off x="777240" y="6067044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2" name="Image 3" descr="icons/fi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618134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58430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raw data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508760" y="615391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triplets are written to indicqa_hindi_raw.json (UTF-8, Hindi script preserved).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080760" y="1783080"/>
            <a:ext cx="5532120" cy="5120640"/>
          </a:xfrm>
          <a:prstGeom prst="roundRect">
            <a:avLst>
              <a:gd name="adj" fmla="val 1786"/>
            </a:avLst>
          </a:prstGeom>
          <a:solidFill>
            <a:srgbClr val="0E7C7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6080760" y="2148840"/>
            <a:ext cx="5532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1,052</a:t>
            </a:r>
            <a:endParaRPr lang="en-US" sz="6200" dirty="0"/>
          </a:p>
        </p:txBody>
      </p:sp>
      <p:sp>
        <p:nvSpPr>
          <p:cNvPr id="27" name="Text 21"/>
          <p:cNvSpPr/>
          <p:nvPr/>
        </p:nvSpPr>
        <p:spPr>
          <a:xfrm>
            <a:off x="6080760" y="306324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examples extracted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6675120" y="3611880"/>
            <a:ext cx="4343400" cy="0"/>
          </a:xfrm>
          <a:prstGeom prst="line">
            <a:avLst/>
          </a:prstGeom>
          <a:noFill/>
          <a:ln w="12700">
            <a:solidFill>
              <a:srgbClr val="4FA8A6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40080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8321040" y="3840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test-00000-of-00001.parquet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40080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kept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8321040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· context · answer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400800" y="4846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8321040" y="4846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indicqa_hindi_raw.json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6400800" y="54406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E4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missing a context, question, or answer text are silently dropped before saving — keeping every downstream record well-formed.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BF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Distilling Context with an LLM Teacher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3.5-397B-A17B strips each Hindi passage down to only the words needed to answer its question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icons/robot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0312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1396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prompt: three hard rules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2697480"/>
            <a:ext cx="457200" cy="45720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63040" y="26700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only compressed Hindi text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63040" y="29900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6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preambles, no explanations — just the trimmed passage.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868680" y="3749040"/>
            <a:ext cx="457200" cy="45720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463040" y="37216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grammar and language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463040" y="404164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6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translation, no new words — only removal is allowed.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868680" y="4800600"/>
            <a:ext cx="457200" cy="45720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463040" y="47731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answer intact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63040" y="50932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6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span needed to answer the question must survive.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868680" y="5623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0.1  ·  top_p 1  ·  seed 42  ·  max_tokens 2048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89320" y="18288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before / after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89320" y="224028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63640" y="242316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EFECE3"/>
          </a:solidFill>
          <a:ln/>
        </p:spPr>
      </p:sp>
      <p:sp>
        <p:nvSpPr>
          <p:cNvPr id="24" name="Text 21"/>
          <p:cNvSpPr/>
          <p:nvPr/>
        </p:nvSpPr>
        <p:spPr>
          <a:xfrm>
            <a:off x="6263640" y="24231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CONTEXT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263640" y="28346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~490 tokens on average — full paragraph with background detail, dates, and surrounding narrative unrelated to the question.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549640" y="3977640"/>
            <a:ext cx="411480" cy="41148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27" name="Text 24"/>
          <p:cNvSpPr/>
          <p:nvPr/>
        </p:nvSpPr>
        <p:spPr>
          <a:xfrm>
            <a:off x="8549640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5989320" y="4480560"/>
            <a:ext cx="5577840" cy="1554480"/>
          </a:xfrm>
          <a:prstGeom prst="roundRect">
            <a:avLst>
              <a:gd name="adj" fmla="val 4706"/>
            </a:avLst>
          </a:prstGeom>
          <a:solidFill>
            <a:srgbClr val="E3F1F0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63640" y="4663440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30" name="Text 27"/>
          <p:cNvSpPr/>
          <p:nvPr/>
        </p:nvSpPr>
        <p:spPr>
          <a:xfrm>
            <a:off x="6263640" y="466344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CONTEXT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263640" y="50749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tokens on average — the same words, in the same order, but only the span the answer actually depends on.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989320" y="61722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compress_context_with_glm(context, question, client)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CF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Compression into Supervision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word-by-word alignment pass converts each (original, compressed) pair into binary keep/drop labels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original_context.split()  →  per-word labels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896112" cy="502920"/>
          </a:xfrm>
          <a:prstGeom prst="roundRect">
            <a:avLst>
              <a:gd name="adj" fmla="val 10909"/>
            </a:avLst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महात्मा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91056" y="2194560"/>
            <a:ext cx="896112" cy="502920"/>
          </a:xfrm>
          <a:prstGeom prst="roundRect">
            <a:avLst>
              <a:gd name="adj" fmla="val 10909"/>
            </a:avLst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1591056" y="219456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गांधी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91056" y="27432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42032" y="2194560"/>
            <a:ext cx="896112" cy="502920"/>
          </a:xfrm>
          <a:prstGeom prst="roundRect">
            <a:avLst>
              <a:gd name="adj" fmla="val 10909"/>
            </a:avLst>
          </a:prstGeom>
          <a:solidFill>
            <a:srgbClr val="EDEEF1"/>
          </a:solidFill>
          <a:ln/>
        </p:spPr>
      </p:sp>
      <p:sp>
        <p:nvSpPr>
          <p:cNvPr id="13" name="Text 11"/>
          <p:cNvSpPr/>
          <p:nvPr/>
        </p:nvSpPr>
        <p:spPr>
          <a:xfrm>
            <a:off x="2542032" y="219456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42032" y="27432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AB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93008" y="2194560"/>
            <a:ext cx="896112" cy="502920"/>
          </a:xfrm>
          <a:prstGeom prst="roundRect">
            <a:avLst>
              <a:gd name="adj" fmla="val 10909"/>
            </a:avLst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3493008" y="219456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जन्म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93008" y="27432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43984" y="2194560"/>
            <a:ext cx="896112" cy="502920"/>
          </a:xfrm>
          <a:prstGeom prst="roundRect">
            <a:avLst>
              <a:gd name="adj" fmla="val 10909"/>
            </a:avLst>
          </a:prstGeom>
          <a:solidFill>
            <a:srgbClr val="0E7C7B"/>
          </a:solidFill>
          <a:ln/>
        </p:spPr>
      </p:sp>
      <p:sp>
        <p:nvSpPr>
          <p:cNvPr id="19" name="Text 17"/>
          <p:cNvSpPr/>
          <p:nvPr/>
        </p:nvSpPr>
        <p:spPr>
          <a:xfrm>
            <a:off x="4443984" y="219456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1869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43984" y="27432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94960" y="2194560"/>
            <a:ext cx="896112" cy="502920"/>
          </a:xfrm>
          <a:prstGeom prst="roundRect">
            <a:avLst>
              <a:gd name="adj" fmla="val 10909"/>
            </a:avLst>
          </a:prstGeom>
          <a:solidFill>
            <a:srgbClr val="EDEEF1"/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0" y="219456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में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7432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AB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45936" y="2194560"/>
            <a:ext cx="896112" cy="502920"/>
          </a:xfrm>
          <a:prstGeom prst="roundRect">
            <a:avLst>
              <a:gd name="adj" fmla="val 10909"/>
            </a:avLst>
          </a:prstGeom>
          <a:solidFill>
            <a:srgbClr val="0E7C7B"/>
          </a:solidFill>
          <a:ln/>
        </p:spPr>
      </p:sp>
      <p:sp>
        <p:nvSpPr>
          <p:cNvPr id="25" name="Text 23"/>
          <p:cNvSpPr/>
          <p:nvPr/>
        </p:nvSpPr>
        <p:spPr>
          <a:xfrm>
            <a:off x="6345936" y="219456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पोरबंदर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45936" y="27432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96912" y="2194560"/>
            <a:ext cx="896112" cy="502920"/>
          </a:xfrm>
          <a:prstGeom prst="roundRect">
            <a:avLst>
              <a:gd name="adj" fmla="val 10909"/>
            </a:avLst>
          </a:prstGeom>
          <a:solidFill>
            <a:srgbClr val="EDEEF1"/>
          </a:solidFill>
          <a:ln/>
        </p:spPr>
      </p:sp>
      <p:sp>
        <p:nvSpPr>
          <p:cNvPr id="28" name="Text 26"/>
          <p:cNvSpPr/>
          <p:nvPr/>
        </p:nvSpPr>
        <p:spPr>
          <a:xfrm>
            <a:off x="7296912" y="219456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में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96912" y="27432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AB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47888" y="2194560"/>
            <a:ext cx="896112" cy="502920"/>
          </a:xfrm>
          <a:prstGeom prst="roundRect">
            <a:avLst>
              <a:gd name="adj" fmla="val 10909"/>
            </a:avLst>
          </a:prstGeom>
          <a:solidFill>
            <a:srgbClr val="EDEEF1"/>
          </a:solidFill>
          <a:ln/>
        </p:spPr>
      </p:sp>
      <p:sp>
        <p:nvSpPr>
          <p:cNvPr id="31" name="Text 29"/>
          <p:cNvSpPr/>
          <p:nvPr/>
        </p:nvSpPr>
        <p:spPr>
          <a:xfrm>
            <a:off x="8247888" y="219456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हुआ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47888" y="27432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AB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98864" y="2194560"/>
            <a:ext cx="896112" cy="502920"/>
          </a:xfrm>
          <a:prstGeom prst="roundRect">
            <a:avLst>
              <a:gd name="adj" fmla="val 10909"/>
            </a:avLst>
          </a:prstGeom>
          <a:solidFill>
            <a:srgbClr val="EDEEF1"/>
          </a:solidFill>
          <a:ln/>
        </p:spPr>
      </p:sp>
      <p:sp>
        <p:nvSpPr>
          <p:cNvPr id="34" name="Text 32"/>
          <p:cNvSpPr/>
          <p:nvPr/>
        </p:nvSpPr>
        <p:spPr>
          <a:xfrm>
            <a:off x="9198864" y="219456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था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98864" y="27432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AB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324612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E3F1F0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2461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kept (aligned with compressed output)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749040" y="324612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EDEEF1"/>
          </a:solidFill>
          <a:ln/>
        </p:spPr>
      </p:sp>
      <p:sp>
        <p:nvSpPr>
          <p:cNvPr id="39" name="Text 37"/>
          <p:cNvSpPr/>
          <p:nvPr/>
        </p:nvSpPr>
        <p:spPr>
          <a:xfrm>
            <a:off x="3749040" y="32461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dropped by the compressor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3886200"/>
            <a:ext cx="5486400" cy="2423160"/>
          </a:xfrm>
          <a:prstGeom prst="roundRect">
            <a:avLst>
              <a:gd name="adj" fmla="val 3774"/>
            </a:avLst>
          </a:prstGeom>
          <a:solidFill>
            <a:srgbClr val="F7F5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1" name="Image 0" descr="icons/tags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14800"/>
            <a:ext cx="329184" cy="329184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280160" y="41330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generate_labels(original, compressed)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822960" y="457200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both texts into whitespace-delimited tokens.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the original tokens in order, advancing a pointer through the compressed tokens whenever it finds a match.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 → label 1 (kept); no match → label 0 (dropped) — producing a label sequence the same length as the original context.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6309360" y="3886200"/>
            <a:ext cx="5257800" cy="2423160"/>
          </a:xfrm>
          <a:prstGeom prst="roundRect">
            <a:avLst>
              <a:gd name="adj" fmla="val 3774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5" name="Image 1" descr="icons/langua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114800"/>
            <a:ext cx="329184" cy="329184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7040880" y="41330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token-level labels</a:t>
            </a:r>
            <a:endParaRPr lang="en-US" sz="1400" dirty="0"/>
          </a:p>
        </p:txBody>
      </p:sp>
      <p:sp>
        <p:nvSpPr>
          <p:cNvPr id="47" name="Text 43"/>
          <p:cNvSpPr/>
          <p:nvPr/>
        </p:nvSpPr>
        <p:spPr>
          <a:xfrm>
            <a:off x="6583680" y="457200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6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Reframes compression as sequence labelling — a lightweight classifier can learn to predict keep/drop per token.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6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need to call a large LLM at inference time once a student model is trained on this signal.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6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of the final dataset stores tokens + labels + the original answer for evaluation.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BF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Orchestrating the Full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resumable, retry-safe loop turns 1,052 raw rows into a clean, split training corpus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icons/redo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31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8105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Auto-resume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34440" y="21214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existing lines in master_processed_data.jsonl and restarts from the next unprocessed row.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icons/cogs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9946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8620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 backoff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234440" y="31729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attempts per row with growing wait times if the API rate-limits a request.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2" descr="icons/f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0462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9136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Write-through saving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234440" y="42245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flushed to disk immediately after processing, so no progress is lost mid-run.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48640" y="5074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1,052 → 987 rows survived processing (a handful skipped on unrecoverable errors, e.g. empty model output).</a:t>
            </a:r>
            <a:endParaRPr lang="en-US" sz="1080" dirty="0"/>
          </a:p>
        </p:txBody>
      </p:sp>
      <p:sp>
        <p:nvSpPr>
          <p:cNvPr id="18" name="Shape 13"/>
          <p:cNvSpPr/>
          <p:nvPr/>
        </p:nvSpPr>
        <p:spPr>
          <a:xfrm>
            <a:off x="6400800" y="182880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3" descr="icons/layer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2103120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23760" y="2130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train-validation split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6720840" y="2514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random.shuffle(seed=42)  →  deterministic, reproducible split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6720840" y="3063240"/>
            <a:ext cx="3691369" cy="50292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23" name="Shape 17"/>
          <p:cNvSpPr/>
          <p:nvPr/>
        </p:nvSpPr>
        <p:spPr>
          <a:xfrm>
            <a:off x="10412209" y="3063240"/>
            <a:ext cx="926351" cy="502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4" name="Text 18"/>
          <p:cNvSpPr/>
          <p:nvPr/>
        </p:nvSpPr>
        <p:spPr>
          <a:xfrm>
            <a:off x="6720840" y="3657600"/>
            <a:ext cx="36913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789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6720840" y="4023360"/>
            <a:ext cx="36913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6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(80%)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0412209" y="3657600"/>
            <a:ext cx="9263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10412209" y="4023360"/>
            <a:ext cx="9263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6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(20%)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720840" y="4343400"/>
            <a:ext cx="4617720" cy="0"/>
          </a:xfrm>
          <a:prstGeom prst="line">
            <a:avLst/>
          </a:prstGeom>
          <a:noFill/>
          <a:ln w="12700">
            <a:solidFill>
              <a:srgbClr val="3B4A6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720840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processed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9144000" y="4572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987 rows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6720840" y="5029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train_indicqa.jsonl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9144000" y="5029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789 rows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6720840" y="5486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val_indicqa.jsonl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9144000" y="5486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 rows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447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5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Validation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how much the compressor shrinks context, and whether the answer still survives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828800"/>
          <a:ext cx="57607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629400" y="182880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22315A"/>
          </a:solidFill>
          <a:ln/>
        </p:spPr>
      </p:sp>
      <p:sp>
        <p:nvSpPr>
          <p:cNvPr id="7" name="Text 4"/>
          <p:cNvSpPr/>
          <p:nvPr/>
        </p:nvSpPr>
        <p:spPr>
          <a:xfrm>
            <a:off x="6812280" y="1965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96.0%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812280" y="24871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compression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12280" y="27614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 → 19 tokens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9601200" y="182880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22315A"/>
          </a:solidFill>
          <a:ln/>
        </p:spPr>
      </p:sp>
      <p:sp>
        <p:nvSpPr>
          <p:cNvPr id="11" name="Text 8"/>
          <p:cNvSpPr/>
          <p:nvPr/>
        </p:nvSpPr>
        <p:spPr>
          <a:xfrm>
            <a:off x="9784080" y="1965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96.0%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9784080" y="24871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compression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784080" y="27614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489 → 20 tokens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629400" y="333756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22315A"/>
          </a:solidFill>
          <a:ln/>
        </p:spPr>
      </p:sp>
      <p:sp>
        <p:nvSpPr>
          <p:cNvPr id="15" name="Text 12"/>
          <p:cNvSpPr/>
          <p:nvPr/>
        </p:nvSpPr>
        <p:spPr>
          <a:xfrm>
            <a:off x="6812280" y="34747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90.0%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6812280" y="39959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answer retention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12280" y="42702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text present post-compression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601200" y="333756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22315A"/>
          </a:solidFill>
          <a:ln/>
        </p:spPr>
      </p:sp>
      <p:sp>
        <p:nvSpPr>
          <p:cNvPr id="19" name="Text 16"/>
          <p:cNvSpPr/>
          <p:nvPr/>
        </p:nvSpPr>
        <p:spPr>
          <a:xfrm>
            <a:off x="9784080" y="34747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91.9%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9784080" y="39959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answer retention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784080" y="42702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text present post-compression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8640" y="5141421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E7C7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3" name="Image 0" descr="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486400"/>
            <a:ext cx="502920" cy="5029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600200" y="534924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the next milestone: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labelled train / validation sets cut prompt size by ~96% while keeping the correct answer in over 9 of every 10 examples — a strong signal for training a lightweight token-classification compressor.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828</Words>
  <Application>Microsoft Office PowerPoint</Application>
  <PresentationFormat>Widescreen</PresentationFormat>
  <Paragraphs>136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Query-Aware Context Compression for Hindi QA</dc:title>
  <dc:subject>PptxGenJS Presentation</dc:subject>
  <dc:creator>Data Science AI Lab</dc:creator>
  <cp:lastModifiedBy>Hitesh Binjrawat</cp:lastModifiedBy>
  <cp:revision>1</cp:revision>
  <dcterms:created xsi:type="dcterms:W3CDTF">2026-07-08T15:44:20Z</dcterms:created>
  <dcterms:modified xsi:type="dcterms:W3CDTF">2026-07-09T16:38:21Z</dcterms:modified>
</cp:coreProperties>
</file>