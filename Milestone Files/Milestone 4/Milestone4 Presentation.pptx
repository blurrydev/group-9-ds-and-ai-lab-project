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E35-4F47-8B60-E22BA018382A}"/>
              </c:ext>
            </c:extLst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E35-4F47-8B60-E22BA018382A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E35-4F47-8B60-E22BA018382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 (1,609)</c:v>
                </c:pt>
                <c:pt idx="1">
                  <c:v>Validation (201)</c:v>
                </c:pt>
                <c:pt idx="2">
                  <c:v>Test (202)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1609</c:v>
                </c:pt>
                <c:pt idx="1">
                  <c:v>201</c:v>
                </c:pt>
                <c:pt idx="2">
                  <c:v>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E35-4F47-8B60-E22BA01838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Arial"/>
              </a:rPr>
              <a:t>Validation F1 by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F1</c:v>
                </c:pt>
              </c:strCache>
            </c:strRef>
          </c:tx>
          <c:spPr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0.52159999999999995</c:v>
                </c:pt>
                <c:pt idx="1">
                  <c:v>0.60250000000000004</c:v>
                </c:pt>
                <c:pt idx="2">
                  <c:v>0.60040000000000004</c:v>
                </c:pt>
                <c:pt idx="3">
                  <c:v>0.52549999999999997</c:v>
                </c:pt>
                <c:pt idx="4">
                  <c:v>0.41799999999999998</c:v>
                </c:pt>
                <c:pt idx="5">
                  <c:v>0.54369999999999996</c:v>
                </c:pt>
                <c:pt idx="6">
                  <c:v>0.56669999999999998</c:v>
                </c:pt>
                <c:pt idx="7">
                  <c:v>0.49349999999999999</c:v>
                </c:pt>
                <c:pt idx="8">
                  <c:v>0.51060000000000005</c:v>
                </c:pt>
                <c:pt idx="9">
                  <c:v>0.51829999999999998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76-4B26-BE45-84C3E21B9E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  <c:min val="0.3"/>
        </c:scaling>
        <c:delete val="0"/>
        <c:axPos val="l"/>
        <c:majorGridlines>
          <c:spPr>
            <a:ln w="12700" cap="flat">
              <a:solidFill>
                <a:srgbClr val="CADCF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IN" sz="1250" b="0" i="0" u="none" strike="noStrike">
                <a:solidFill>
                  <a:srgbClr val="1E2761"/>
                </a:solidFill>
                <a:latin typeface="Arial"/>
              </a:rPr>
              <a:t>Validation vs. Test Metrics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9FB6E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71.61</c:v>
                </c:pt>
                <c:pt idx="1">
                  <c:v>49.96</c:v>
                </c:pt>
                <c:pt idx="2">
                  <c:v>75.709999999999994</c:v>
                </c:pt>
                <c:pt idx="3">
                  <c:v>60.2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A9-4687-8866-D14A7240C1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76.03</c:v>
                </c:pt>
                <c:pt idx="1">
                  <c:v>51.25</c:v>
                </c:pt>
                <c:pt idx="2">
                  <c:v>80.08</c:v>
                </c:pt>
                <c:pt idx="3">
                  <c:v>62.5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A9-4687-8866-D14A7240C1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6B8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2848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C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0624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846320"/>
            <a:ext cx="2011680" cy="20116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1097280"/>
            <a:ext cx="2926080" cy="292608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9  ·  PROMPT COMPRESSION FOR INDIC RAG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Indic-LLMLingua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Model Training, Hyperparameter Exploration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Empirical Evaluation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15773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 (277.45M params)  |  Test F1: 62.50%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Pipeline Verification to Full-Scale Training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of Milestones 1–3 and the objectives this report covers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LEFT OFF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1031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problem: morphological destruction &amp; task-agnostic information loss in Indic prompt compression.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315468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&amp; distilled the IndicQA Hindi dataset using Qwen-3.5-397B as teacher LLM for token labels.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420624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 subword label alignment, XLM-RoBERTa architecture, and ran a 32-sample pipeline test.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4406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limitations tackled: 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token fragmentation in morphologically rich languages, and dropping query-critical facts because compression ignores the user's question.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46304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SCOPE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14884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1488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59168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expansion &amp; preprocessing via a new XL-Sum distillation pipeline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2807208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8072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59168" y="276148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XLM-RoBERTa fine-tuning configuration &amp; hardware setup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3465576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4655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59168" y="341985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experiments across 10 epochs / 510 steps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0" y="4123944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4123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59168" y="407822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&amp; stability techniques (masking, warmup, FP16)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4782312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782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59168" y="473659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+ qualitative evaluation on the held-out test set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83680" y="544068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5440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59168" y="53949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inventory and roadmap into Milestone 5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Indic-LLMLingua  |  Milestone 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Expansion: XL-Sum Distillation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3-stage automated pipeline generates additional Indic token-supervision without manual annotation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5204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Pair Generation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(Q, A) per XL-Sum article, A strictly inferable from the text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41648" y="2103120"/>
            <a:ext cx="283464" cy="27432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508760"/>
            <a:ext cx="35204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691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Compression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teacher compresses the article while preserving all QA-critical facts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82128" y="2103120"/>
            <a:ext cx="283464" cy="27432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8183880" y="1508760"/>
            <a:ext cx="35204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1691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0" y="1645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Token-Label Alignment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21488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text matched back to article tokens → KEEP(1) / REMOVE(0)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24612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64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1,042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" y="3931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XL-Sum synthesized examples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37560" y="324612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364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474720" y="3931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IndicQA samples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324612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364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2,029 → 2,012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09360" y="3931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merged → filtered clean (17 pruned)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06840" y="324612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06840" y="3364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27.05%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44000" y="3931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retained token ratio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80 / 10 / 10 SPLIT  (seed = 42, 2,012 clean samples)</a:t>
            </a:r>
            <a:endParaRPr lang="en-US" sz="1100" dirty="0"/>
          </a:p>
        </p:txBody>
      </p:sp>
      <p:graphicFrame>
        <p:nvGraphicFramePr>
          <p:cNvPr id="34" name="Chart 0"/>
          <p:cNvGraphicFramePr/>
          <p:nvPr/>
        </p:nvGraphicFramePr>
        <p:xfrm>
          <a:off x="502920" y="5029200"/>
          <a:ext cx="73152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Shape 32"/>
          <p:cNvSpPr/>
          <p:nvPr/>
        </p:nvSpPr>
        <p:spPr>
          <a:xfrm>
            <a:off x="8092440" y="47091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36" name="Text 33"/>
          <p:cNvSpPr/>
          <p:nvPr/>
        </p:nvSpPr>
        <p:spPr>
          <a:xfrm>
            <a:off x="8092440" y="48463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72.95%</a:t>
            </a:r>
            <a:endParaRPr lang="en-US" sz="2800" dirty="0"/>
          </a:p>
        </p:txBody>
      </p:sp>
      <p:sp>
        <p:nvSpPr>
          <p:cNvPr id="37" name="Text 34"/>
          <p:cNvSpPr/>
          <p:nvPr/>
        </p:nvSpPr>
        <p:spPr>
          <a:xfrm>
            <a:off x="8275320" y="5440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context compression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(median 25 retained tokens, mean 88.33 positive tokens/sample)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Indic-LLMLingua  |  Milestone 4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Architecture: XLM-RoBERTa Token Classifier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pretrained multilingual encoder with a linear token classification head over KEEP / REMOVE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943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&lt;s&gt; Question &lt;/s&gt;&lt;/s&gt; Context &lt;/s&gt;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92424" y="2185416"/>
            <a:ext cx="164592" cy="109728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313432"/>
            <a:ext cx="5943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1343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SentencePiece Subword Tokenizer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2424" y="2990088"/>
            <a:ext cx="164592" cy="109728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3118104"/>
            <a:ext cx="594360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118104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 Encoder (12 layers · 768 dim · 12 heads)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92424" y="3794760"/>
            <a:ext cx="164592" cy="109728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3922776"/>
            <a:ext cx="5943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22776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Classification Head (768 → 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92424" y="4599432"/>
            <a:ext cx="164592" cy="109728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4727448"/>
            <a:ext cx="5943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7274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 Tensor (B, L, 2)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92424" y="5404104"/>
            <a:ext cx="164592" cy="109728"/>
          </a:xfrm>
          <a:prstGeom prst="downArrow">
            <a:avLst/>
          </a:prstGeom>
          <a:solidFill>
            <a:srgbClr val="E8A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5532120"/>
            <a:ext cx="5943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5321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→ KEEP (1) / REMOVE (0)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508760"/>
            <a:ext cx="4892040" cy="4846320"/>
          </a:xfrm>
          <a:prstGeom prst="roundRect">
            <a:avLst>
              <a:gd name="adj" fmla="val 1509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737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SPECIFICATIONS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22402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Encoder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247802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FacebookAI/xlm-roberta-base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280720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304495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277,454,594 (277.45M)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337413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Dimension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361188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394106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417880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45079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Layers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474573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5074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Size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531266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250,002 (multilingual SentencePiece BPE)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56418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Position Embeddings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587959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 (truncation limit 512)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40880" y="620877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64465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ℝ⁷⁶⁸ → ℝ² (REMOVE / KEEP)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Indic-LLMLingua  |  Milestone 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Training Configuration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with the Hugging Face Trainer API on dual Tesla T4 GPUs (Kaggle)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50292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Weight-decay regularized Adam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10⁻⁵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fine-tuning rate, avoids catastrophic forgetting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Scheduler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warmup + decay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warmup steps, then linear decay to zero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Decay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regularization on non-bias / LayerNorm weights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per device (×2 accum.)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batch size of 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 / Steps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epochs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 total optimization steps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Sequence 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tokens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full QA question + context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FP16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Gradient checkpointing for memory savings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/ Save Strategy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epoch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checkpoint loaded by validation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Indic-LLMLingua  |  Milestone 4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Dynamics &amp; Stability Techniques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F1 peaks early at Epoch 2, then late-stage overfitting sets in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463040"/>
          <a:ext cx="64922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" y="4709160"/>
            <a:ext cx="59436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4846320"/>
            <a:ext cx="5577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Val F1 = 0.6025 at Epoch 2 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(recall 75.83%). Beyond Epoch 3, training loss keeps falling (→ ~1.06) while eval loss rises from 0.989 → 1.377 — classic late-stage overfitting. load_best_model_at_end automatically selects the Epoch-2 checkpoint for deployment.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269480" y="1463040"/>
            <a:ext cx="4434840" cy="493776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543800" y="1645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&amp; STABILITY TECHNIQUES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43800" y="224028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7543800" y="2240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01000" y="21854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Masking (-100)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01000" y="2459736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computed once per whitespace word, not per continuation subword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43800" y="308152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7543800" y="3081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01000" y="30266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Warmup + Weight Decay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001000" y="330098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100-step warmup to 2e-5, then 0.01 L2 penalty for generalization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543800" y="392277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7543800" y="3922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001000" y="38679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+ Gradient Checkpointing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001000" y="414223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batch size with reduced VRAM footprint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543800" y="4764024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19"/>
          <p:cNvSpPr/>
          <p:nvPr/>
        </p:nvSpPr>
        <p:spPr>
          <a:xfrm>
            <a:off x="7543800" y="47640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01000" y="4709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Padding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01000" y="49834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Pads to local batch max, not fixed 512, cutting gradient noise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543800" y="5605272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3"/>
          <p:cNvSpPr/>
          <p:nvPr/>
        </p:nvSpPr>
        <p:spPr>
          <a:xfrm>
            <a:off x="7543800" y="5605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001000" y="5550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Validation-F1 Checkpointing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001000" y="582472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collapse to majority REMOVE class on imbalanced labels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Indic-LLMLingua  |  Milestone 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Evaluation &amp; Path to Milestone 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performance, a qualitative compression example, and next steps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417320"/>
          <a:ext cx="557784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3434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3891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76.03%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02920" y="4800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404872" y="43434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04872" y="43891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80.08%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404872" y="4800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Recall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06824" y="43434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06824" y="43891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62.50%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306824" y="4800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5349240"/>
            <a:ext cx="557784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54406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(Milestone 5):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RAG QA evaluation (EM/F1), LR sweep (1e-5, 3e-5) + xlm-roberta-large, and end-to-end latency benchmarks.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309360" y="1417320"/>
            <a:ext cx="53492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SAMPLE — H5N1 QA PASSAGE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83680" y="19659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</a:t>
            </a: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US scientists confirm about the H5N1 virus, and how has the risk to humans increased?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583680" y="269748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EAF0FB"/>
          </a:solidFill>
          <a:ln/>
        </p:spPr>
      </p:sp>
      <p:sp>
        <p:nvSpPr>
          <p:cNvPr id="20" name="Text 17"/>
          <p:cNvSpPr/>
          <p:nvPr/>
        </p:nvSpPr>
        <p:spPr>
          <a:xfrm>
            <a:off x="6720840" y="278892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passage (76 tokens): WHO reported new bird-flu deaths in Azerbaijan; of 11 symptomatic cases since February, 5 died. US scientists confirmed the H5N1 virus split into two distinct strains, raising human risk.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0" y="420624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6720840" y="427939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(44 tokens, KEEP tokens only): WHO, bird flu, H5N1 virus, US scientists confirmed, H5N1 virus, two strains, split, humans, risk increased.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583680" y="53492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~42.5% token reduction  </a:t>
            </a: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key entities and the answer-bearing facts are fully retained.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Indic-LLMLingua  |  Milestone 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941</Words>
  <Application>Microsoft Office PowerPoint</Application>
  <PresentationFormat>Widescreen</PresentationFormat>
  <Paragraphs>162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Hitesh Binjrawat</cp:lastModifiedBy>
  <cp:revision>2</cp:revision>
  <dcterms:created xsi:type="dcterms:W3CDTF">2026-08-01T11:53:36Z</dcterms:created>
  <dcterms:modified xsi:type="dcterms:W3CDTF">2026-08-01T13:37:40Z</dcterms:modified>
</cp:coreProperties>
</file>