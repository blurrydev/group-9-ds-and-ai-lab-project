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7" d="100"/>
          <a:sy n="77" d="100"/>
        </p:scale>
        <p:origin x="24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Samples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E35-4F47-8B60-E22BA018382A}"/>
              </c:ext>
            </c:extLst>
          </c:dPt>
          <c:dPt>
            <c:idx val="1"/>
            <c:invertIfNegative val="0"/>
            <c:bubble3D val="0"/>
            <c:spPr>
              <a:solidFill>
                <a:srgbClr val="E8A33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E35-4F47-8B60-E22BA018382A}"/>
              </c:ext>
            </c:extLst>
          </c:dPt>
          <c:dPt>
            <c:idx val="2"/>
            <c:invertIfNegative val="0"/>
            <c:bubble3D val="0"/>
            <c:spPr>
              <a:solidFill>
                <a:srgbClr val="1C729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E35-4F47-8B60-E22BA018382A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Train (1,609)</c:v>
                </c:pt>
                <c:pt idx="1">
                  <c:v>Validation (201)</c:v>
                </c:pt>
                <c:pt idx="2">
                  <c:v>Test (202)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1609</c:v>
                </c:pt>
                <c:pt idx="1">
                  <c:v>201</c:v>
                </c:pt>
                <c:pt idx="2">
                  <c:v>202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E35-4F47-8B60-E22BA018382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76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Arial"/>
              </a:defRPr>
            </a:pPr>
            <a:r>
              <a:rPr lang="en-IN" sz="1300" b="0" i="0" u="none" strike="noStrike">
                <a:solidFill>
                  <a:srgbClr val="1E2761"/>
                </a:solidFill>
                <a:latin typeface="Arial"/>
              </a:rPr>
              <a:t>Validation F1 by Epoch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 F1</c:v>
                </c:pt>
              </c:strCache>
            </c:strRef>
          </c:tx>
          <c:spPr>
            <a:ln w="31750" cap="flat">
              <a:solidFill>
                <a:srgbClr val="E8A33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A33D"/>
              </a:solidFill>
              <a:ln w="9525" cap="flat">
                <a:solidFill>
                  <a:srgbClr val="E8A33D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0.52159999999999995</c:v>
                </c:pt>
                <c:pt idx="1">
                  <c:v>0.60250000000000004</c:v>
                </c:pt>
                <c:pt idx="2">
                  <c:v>0.60040000000000004</c:v>
                </c:pt>
                <c:pt idx="3">
                  <c:v>0.52549999999999997</c:v>
                </c:pt>
                <c:pt idx="4">
                  <c:v>0.41799999999999998</c:v>
                </c:pt>
                <c:pt idx="5">
                  <c:v>0.54369999999999996</c:v>
                </c:pt>
                <c:pt idx="6">
                  <c:v>0.56669999999999998</c:v>
                </c:pt>
                <c:pt idx="7">
                  <c:v>0.49349999999999999</c:v>
                </c:pt>
                <c:pt idx="8">
                  <c:v>0.51060000000000005</c:v>
                </c:pt>
                <c:pt idx="9">
                  <c:v>0.51829999999999998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276-4B26-BE45-84C3E21B9E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65"/>
          <c:min val="0.3"/>
        </c:scaling>
        <c:delete val="0"/>
        <c:axPos val="l"/>
        <c:majorGridlines>
          <c:spPr>
            <a:ln w="12700" cap="flat">
              <a:solidFill>
                <a:srgbClr val="CADCF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Arial"/>
              </a:defRPr>
            </a:pPr>
            <a:r>
              <a:rPr lang="en-IN" sz="1250" b="0" i="0" u="none" strike="noStrike">
                <a:solidFill>
                  <a:srgbClr val="1E2761"/>
                </a:solidFill>
                <a:latin typeface="Arial"/>
              </a:rPr>
              <a:t>Validation vs. Test Metrics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</c:v>
                </c:pt>
              </c:strCache>
            </c:strRef>
          </c:tx>
          <c:spPr>
            <a:solidFill>
              <a:srgbClr val="9FB6E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Accuracy</c:v>
                </c:pt>
                <c:pt idx="1">
                  <c:v>Precision</c:v>
                </c:pt>
                <c:pt idx="2">
                  <c:v>Recall</c:v>
                </c:pt>
                <c:pt idx="3">
                  <c:v>F1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71.61</c:v>
                </c:pt>
                <c:pt idx="1">
                  <c:v>49.96</c:v>
                </c:pt>
                <c:pt idx="2">
                  <c:v>75.709999999999994</c:v>
                </c:pt>
                <c:pt idx="3">
                  <c:v>60.2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A9-4687-8866-D14A7240C11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Accuracy</c:v>
                </c:pt>
                <c:pt idx="1">
                  <c:v>Precision</c:v>
                </c:pt>
                <c:pt idx="2">
                  <c:v>Recall</c:v>
                </c:pt>
                <c:pt idx="3">
                  <c:v>F1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76.03</c:v>
                </c:pt>
                <c:pt idx="1">
                  <c:v>51.25</c:v>
                </c:pt>
                <c:pt idx="2">
                  <c:v>80.08</c:v>
                </c:pt>
                <c:pt idx="3">
                  <c:v>62.5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A9-4687-8866-D14A7240C11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76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A6B87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28485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C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4206240"/>
            <a:ext cx="3291840" cy="32918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846320"/>
            <a:ext cx="2011680" cy="2011680"/>
          </a:xfrm>
          <a:prstGeom prst="ellipse">
            <a:avLst/>
          </a:prstGeom>
          <a:solidFill>
            <a:srgbClr val="CADCFC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1097280"/>
            <a:ext cx="2926080" cy="2926080"/>
          </a:xfrm>
          <a:prstGeom prst="ellipse">
            <a:avLst/>
          </a:prstGeom>
          <a:solidFill>
            <a:srgbClr val="CADCFC">
              <a:alpha val="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17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9  ·  PROMPT COMPRESSION FOR INDIC RAG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Indic-LLMLingua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731520" y="297180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4 — Model Training, Hyperparameter Exploration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Empirical Evaluation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1520" y="4160520"/>
            <a:ext cx="2743200" cy="0"/>
          </a:xfrm>
          <a:prstGeom prst="line">
            <a:avLst/>
          </a:prstGeom>
          <a:noFill/>
          <a:ln w="25400">
            <a:solidFill>
              <a:srgbClr val="E8A3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44348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4800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5157734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XLM-RoBERTa (277.45M params)  |  Test F1: 62.50%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2386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Pipeline Verification to Full-Scale Training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of Milestones 1–3 and the objectives this report covers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8640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5400000" algn="bl" rotWithShape="0">
              <a:srgbClr val="1E2761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LEFT OFF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63040" y="2103120"/>
            <a:ext cx="4434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the problem: morphological destruction &amp; task-agnostic information loss in Indic prompt compression.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2004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00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63040" y="3154680"/>
            <a:ext cx="4434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 &amp; distilled the IndicQA Hindi dataset using Qwen-3.5-397B as teacher LLM for token labels.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4251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251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63040" y="4206240"/>
            <a:ext cx="4434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Specified subword label alignment, XLM-RoBERTa architecture, and ran a 32-sample pipeline test.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44068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core limitations tackled: </a:t>
            </a: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arbitrary token fragmentation in morphologically rich languages, and dropping query-critical facts because compression ignores the user's question.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1463040"/>
            <a:ext cx="5394960" cy="4892040"/>
          </a:xfrm>
          <a:prstGeom prst="roundRect">
            <a:avLst>
              <a:gd name="adj" fmla="val 1495"/>
            </a:avLst>
          </a:prstGeom>
          <a:solidFill>
            <a:srgbClr val="1E2761"/>
          </a:solidFill>
          <a:ln/>
          <a:effectLst>
            <a:outerShdw blurRad="76200" dist="25400" dir="5400000" algn="bl" rotWithShape="0">
              <a:srgbClr val="1E2761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83680" y="16916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4 SCOPE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0" y="2148840"/>
            <a:ext cx="310896" cy="3108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21488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059168" y="210312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expansion &amp; preprocessing via a new XL-Sum distillation pipeline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83680" y="2807208"/>
            <a:ext cx="310896" cy="3108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0" y="280720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059168" y="2761488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XLM-RoBERTa fine-tuning configuration &amp; hardware setup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583680" y="3465576"/>
            <a:ext cx="310896" cy="3108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346557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059168" y="3419856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experiments across 10 epochs / 510 steps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83680" y="4123944"/>
            <a:ext cx="310896" cy="3108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0" y="412394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059168" y="4078224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Generalization &amp; stability techniques (masking, warmup, FP16)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83680" y="4782312"/>
            <a:ext cx="310896" cy="3108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78231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059168" y="4736592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+ qualitative evaluation on the held-out test set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583680" y="5440680"/>
            <a:ext cx="310896" cy="3108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4" name="Text 32"/>
          <p:cNvSpPr/>
          <p:nvPr/>
        </p:nvSpPr>
        <p:spPr>
          <a:xfrm>
            <a:off x="6583680" y="544068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059168" y="539496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inventory and roadmap into Milestone 5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Indic-LLMLingua  |  Milestone 4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Expansion: XL-Sum Distillation Pipeline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3-stage automated pipeline generates additional Indic token-supervision without manual annotation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3520440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16459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 Pair Generation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14884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(Q, A) per XL-Sum article, A strictly inferable from the text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41648" y="2103120"/>
            <a:ext cx="283464" cy="274320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0" name="Shape 8"/>
          <p:cNvSpPr/>
          <p:nvPr/>
        </p:nvSpPr>
        <p:spPr>
          <a:xfrm>
            <a:off x="4343400" y="1508760"/>
            <a:ext cx="3520440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169164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16459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Compression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214884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teacher compresses the article while preserving all QA-critical facts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82128" y="2103120"/>
            <a:ext cx="283464" cy="274320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16" name="Shape 14"/>
          <p:cNvSpPr/>
          <p:nvPr/>
        </p:nvSpPr>
        <p:spPr>
          <a:xfrm>
            <a:off x="8183880" y="1508760"/>
            <a:ext cx="3520440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66760" y="169164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836676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869680" y="16459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Token-Label Alignment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412480" y="214884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text matched back to article tokens → KEEP(1) / REMOVE(0)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3246120"/>
            <a:ext cx="26974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364992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1,042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XL-Sum synthesized examples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37560" y="3246120"/>
            <a:ext cx="26974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37560" y="3364992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987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474720" y="393192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Distilled IndicQA samples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72200" y="3246120"/>
            <a:ext cx="26974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72200" y="3364992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2,029 → 2,012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309360" y="393192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merged → filtered clean (17 pruned)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006840" y="3246120"/>
            <a:ext cx="26974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006840" y="3364992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27.05%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9144000" y="393192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retained token ratio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02920" y="4709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80 / 10 / 10 SPLIT  (seed = 42, 2,012 clean samples)</a:t>
            </a:r>
            <a:endParaRPr lang="en-US" sz="1100" dirty="0"/>
          </a:p>
        </p:txBody>
      </p:sp>
      <p:graphicFrame>
        <p:nvGraphicFramePr>
          <p:cNvPr id="34" name="Chart 0"/>
          <p:cNvGraphicFramePr/>
          <p:nvPr/>
        </p:nvGraphicFramePr>
        <p:xfrm>
          <a:off x="502920" y="5029200"/>
          <a:ext cx="7315200" cy="141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" name="Shape 32"/>
          <p:cNvSpPr/>
          <p:nvPr/>
        </p:nvSpPr>
        <p:spPr>
          <a:xfrm>
            <a:off x="8092440" y="470916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1E2761"/>
          </a:solidFill>
          <a:ln/>
        </p:spPr>
      </p:sp>
      <p:sp>
        <p:nvSpPr>
          <p:cNvPr id="36" name="Text 33"/>
          <p:cNvSpPr/>
          <p:nvPr/>
        </p:nvSpPr>
        <p:spPr>
          <a:xfrm>
            <a:off x="8092440" y="48463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72.95%</a:t>
            </a:r>
            <a:endParaRPr lang="en-US" sz="2800" dirty="0"/>
          </a:p>
        </p:txBody>
      </p:sp>
      <p:sp>
        <p:nvSpPr>
          <p:cNvPr id="37" name="Text 34"/>
          <p:cNvSpPr/>
          <p:nvPr/>
        </p:nvSpPr>
        <p:spPr>
          <a:xfrm>
            <a:off x="8275320" y="54406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context compression</a:t>
            </a:r>
            <a:endParaRPr lang="en-US" sz="10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(median 25 retained tokens, mean 88.33 positive tokens/sample)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Indic-LLMLingua  |  Milestone 4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Architecture: XLM-RoBERTa Token Classifier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68433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pretrained multilingual encoder with a linear token classification head over KEEP / REMOVE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9436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5577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&lt;s&gt; Question &lt;/s&gt;&lt;/s&gt; Context &lt;/s&gt;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92424" y="2185416"/>
            <a:ext cx="164592" cy="109728"/>
          </a:xfrm>
          <a:prstGeom prst="downArrow">
            <a:avLst/>
          </a:prstGeom>
          <a:solidFill>
            <a:srgbClr val="E8A33D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2313432"/>
            <a:ext cx="59436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313432"/>
            <a:ext cx="5577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SentencePiece Subword Tokenizer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92424" y="2990088"/>
            <a:ext cx="164592" cy="109728"/>
          </a:xfrm>
          <a:prstGeom prst="downArrow">
            <a:avLst/>
          </a:prstGeom>
          <a:solidFill>
            <a:srgbClr val="E8A33D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3118104"/>
            <a:ext cx="5943600" cy="658368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118104"/>
            <a:ext cx="5577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XLM-RoBERTa Encoder (12 layers · 768 dim · 12 heads)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92424" y="3794760"/>
            <a:ext cx="164592" cy="109728"/>
          </a:xfrm>
          <a:prstGeom prst="downArrow">
            <a:avLst/>
          </a:prstGeom>
          <a:solidFill>
            <a:srgbClr val="E8A33D"/>
          </a:solidFill>
          <a:ln/>
        </p:spPr>
      </p:sp>
      <p:sp>
        <p:nvSpPr>
          <p:cNvPr id="13" name="Shape 11"/>
          <p:cNvSpPr/>
          <p:nvPr/>
        </p:nvSpPr>
        <p:spPr>
          <a:xfrm>
            <a:off x="502920" y="3922776"/>
            <a:ext cx="59436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922776"/>
            <a:ext cx="5577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Classification Head (768 → 2)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392424" y="4599432"/>
            <a:ext cx="164592" cy="109728"/>
          </a:xfrm>
          <a:prstGeom prst="downArrow">
            <a:avLst/>
          </a:prstGeom>
          <a:solidFill>
            <a:srgbClr val="E8A33D"/>
          </a:solidFill>
          <a:ln/>
        </p:spPr>
      </p:sp>
      <p:sp>
        <p:nvSpPr>
          <p:cNvPr id="16" name="Shape 14"/>
          <p:cNvSpPr/>
          <p:nvPr/>
        </p:nvSpPr>
        <p:spPr>
          <a:xfrm>
            <a:off x="502920" y="4727448"/>
            <a:ext cx="59436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727448"/>
            <a:ext cx="5577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Logits Tensor (B, L, 2)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392424" y="5404104"/>
            <a:ext cx="164592" cy="109728"/>
          </a:xfrm>
          <a:prstGeom prst="downArrow">
            <a:avLst/>
          </a:prstGeom>
          <a:solidFill>
            <a:srgbClr val="E8A33D"/>
          </a:solidFill>
          <a:ln/>
        </p:spPr>
      </p:sp>
      <p:sp>
        <p:nvSpPr>
          <p:cNvPr id="19" name="Shape 17"/>
          <p:cNvSpPr/>
          <p:nvPr/>
        </p:nvSpPr>
        <p:spPr>
          <a:xfrm>
            <a:off x="502920" y="5532120"/>
            <a:ext cx="59436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5532120"/>
            <a:ext cx="5577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Argmax → KEEP (1) / REMOVE (0)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66560" y="2011680"/>
            <a:ext cx="4892040" cy="4846320"/>
          </a:xfrm>
          <a:prstGeom prst="roundRect">
            <a:avLst>
              <a:gd name="adj" fmla="val 1509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040880" y="173736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ARCHITECTURAL SPECIFICATIONS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040880" y="2240280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Encoder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40880" y="2478024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FacebookAI/xlm-roberta-base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040880" y="2807208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Parameters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40880" y="3044952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277,454,594 (277.45M)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040880" y="3374136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Dimension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40880" y="3611880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040880" y="3941064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Heads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40880" y="4178808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0880" y="4507992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Layers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0880" y="4745736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040880" y="5074920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Size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040880" y="5312664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250,002 (multilingual SentencePiece BPE)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040880" y="5641848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Position Embeddings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040880" y="5879592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514 (truncation limit 512)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040880" y="6208776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Head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040880" y="6446520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ℝ⁷⁶⁸ → ℝ² (REMOVE / KEEP)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Indic-LLMLingua  |  Milestone 4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Training Configuration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with the Hugging Face Trainer API on dual Tesla T4 GPUs (Kaggle)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55680" cy="502920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Hyperparameter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A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Weight-decay regularized Adam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10⁻⁵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A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fine-tuning rate, avoids catastrophic forgetting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LR Scheduler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warmup + decay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A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warmup steps, then linear decay to zero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 Decay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A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regularization on non-bias / LayerNorm weights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per device (×2 accum.)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A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Effective batch size of 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Epochs / Steps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epochs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A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510 total optimization steps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Sequence Length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 tokens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A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Captures full QA question + context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 FP16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A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Gradient checkpointing for memory savings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 / Save Strategy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epoch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A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checkpoint loaded by validation F1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Indic-LLMLingua  |  Milestone 4</a:t>
            </a:r>
            <a:endParaRPr lang="en-US" sz="900" dirty="0"/>
          </a:p>
        </p:txBody>
      </p:sp>
      <p:sp>
        <p:nvSpPr>
          <p:cNvPr id="4" name="Text 3"/>
          <p:cNvSpPr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Dynamics &amp; Stability Techniques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F1 peaks early at Epoch 2, then late-stage overfitting sets in</a:t>
            </a:r>
            <a:endParaRPr lang="en-US" sz="13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02920" y="1463040"/>
          <a:ext cx="649224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77240" y="4709160"/>
            <a:ext cx="594360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4846320"/>
            <a:ext cx="55778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Val F1 = 0.6025 at Epoch 2  </a:t>
            </a: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(recall 75.83%). Beyond Epoch 3, training loss keeps falling (→ ~1.06) while eval loss rises from 0.989 → 1.377 — classic late-stage overfitting. load_best_model_at_end automatically selects the Epoch-2 checkpoint for deployment.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7269480" y="1463040"/>
            <a:ext cx="4434840" cy="4937760"/>
          </a:xfrm>
          <a:prstGeom prst="roundRect">
            <a:avLst>
              <a:gd name="adj" fmla="val 1649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7543800" y="16459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GENERALIZATION &amp; STABILITY TECHNIQUES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543800" y="2240280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/>
          <p:nvPr/>
        </p:nvSpPr>
        <p:spPr>
          <a:xfrm>
            <a:off x="7543800" y="22402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01000" y="218541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Subword Masking (-100)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001000" y="2459736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computed once per whitespace word, not per continuation subword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543800" y="3081528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1"/>
          <p:cNvSpPr/>
          <p:nvPr/>
        </p:nvSpPr>
        <p:spPr>
          <a:xfrm>
            <a:off x="7543800" y="308152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01000" y="302666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Warmup + Weight Decay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001000" y="3300984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100-step warmup to 2e-5, then 0.01 L2 penalty for generalization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543800" y="3922776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5"/>
          <p:cNvSpPr/>
          <p:nvPr/>
        </p:nvSpPr>
        <p:spPr>
          <a:xfrm>
            <a:off x="7543800" y="39227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001000" y="386791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FP16 + Gradient Checkpointing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001000" y="4142232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batch size with reduced VRAM footprint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543800" y="4764024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2" name="Text 19"/>
          <p:cNvSpPr/>
          <p:nvPr/>
        </p:nvSpPr>
        <p:spPr>
          <a:xfrm>
            <a:off x="7543800" y="476402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001000" y="47091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Padding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001000" y="498348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Pads to local batch max, not fixed 512, cutting gradient noise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543800" y="5605272"/>
            <a:ext cx="292608" cy="29260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6" name="Text 23"/>
          <p:cNvSpPr/>
          <p:nvPr/>
        </p:nvSpPr>
        <p:spPr>
          <a:xfrm>
            <a:off x="7543800" y="56052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8001000" y="555040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Validation-F1 Checkpointing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001000" y="5824728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Avoids collapse to majority REMOVE class on imbalanced labels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Indic-LLMLingua  |  Milestone 4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Empirical Evaluation &amp; Path to Milestone 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performance, a qualitative compression example, and next steps</a:t>
            </a:r>
            <a:endParaRPr lang="en-US" sz="13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02920" y="1417320"/>
          <a:ext cx="5577840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343400"/>
            <a:ext cx="17830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02920" y="438912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76.03%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02920" y="48006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2404872" y="4343400"/>
            <a:ext cx="17830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404872" y="438912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80.08%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2404872" y="48006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Recall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06824" y="4343400"/>
            <a:ext cx="17830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06824" y="438912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62.50%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306824" y="48006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F1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5349240"/>
            <a:ext cx="5577840" cy="1005840"/>
          </a:xfrm>
          <a:prstGeom prst="roundRect">
            <a:avLst>
              <a:gd name="adj" fmla="val 5455"/>
            </a:avLst>
          </a:prstGeom>
          <a:solidFill>
            <a:srgbClr val="1E2761"/>
          </a:solidFill>
          <a:ln/>
        </p:spPr>
      </p:sp>
      <p:sp>
        <p:nvSpPr>
          <p:cNvPr id="15" name="Text 12"/>
          <p:cNvSpPr/>
          <p:nvPr/>
        </p:nvSpPr>
        <p:spPr>
          <a:xfrm>
            <a:off x="685800" y="5440680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(Milestone 5):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RAG QA evaluation (EM/F1), LR sweep (1e-5, 3e-5) + xlm-roberta-large, and end-to-end latency benchmarks.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263640" y="1296785"/>
            <a:ext cx="5349240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7" name="Text 14"/>
          <p:cNvSpPr/>
          <p:nvPr/>
        </p:nvSpPr>
        <p:spPr>
          <a:xfrm>
            <a:off x="6583680" y="16002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 SAMPLE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583680" y="196596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0000"/>
              </a:lnSpc>
            </a:pPr>
            <a:endParaRPr lang="en-US" sz="1050" b="1" dirty="0">
              <a:solidFill>
                <a:srgbClr val="1E276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10000"/>
              </a:lnSpc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</a:t>
            </a:r>
            <a:r>
              <a:rPr lang="en-IN" sz="11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अमरीकी</a:t>
            </a:r>
            <a:r>
              <a:rPr lang="en-IN" sz="11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1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वैज्ञानिकों</a:t>
            </a:r>
            <a:r>
              <a:rPr lang="en-IN" sz="11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1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ने</a:t>
            </a:r>
            <a:r>
              <a:rPr lang="en-IN" sz="11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एच5एन1 </a:t>
            </a:r>
            <a:r>
              <a:rPr lang="en-IN" sz="11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वायरस</a:t>
            </a:r>
            <a:r>
              <a:rPr lang="en-IN" sz="11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1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के</a:t>
            </a:r>
            <a:r>
              <a:rPr lang="en-IN" sz="11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1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बारे</a:t>
            </a:r>
            <a:r>
              <a:rPr lang="en-IN" sz="11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1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में</a:t>
            </a:r>
            <a:r>
              <a:rPr lang="en-IN" sz="11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1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क्या</a:t>
            </a:r>
            <a:r>
              <a:rPr lang="en-IN" sz="11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1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पुष्टि</a:t>
            </a:r>
            <a:r>
              <a:rPr lang="en-IN" sz="11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1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की</a:t>
            </a:r>
            <a:r>
              <a:rPr lang="en-IN" sz="11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1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है</a:t>
            </a:r>
            <a:r>
              <a:rPr lang="en-IN" sz="11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1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और</a:t>
            </a:r>
            <a:r>
              <a:rPr lang="en-IN" sz="11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1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इससे</a:t>
            </a:r>
            <a:r>
              <a:rPr lang="en-IN" sz="11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1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मनुष्यों</a:t>
            </a:r>
            <a:r>
              <a:rPr lang="en-IN" sz="11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1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के</a:t>
            </a:r>
            <a:r>
              <a:rPr lang="en-IN" sz="11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1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लिए</a:t>
            </a:r>
            <a:r>
              <a:rPr lang="en-IN" sz="11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1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क्या</a:t>
            </a:r>
            <a:r>
              <a:rPr lang="en-IN" sz="11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1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खतरा</a:t>
            </a:r>
            <a:r>
              <a:rPr lang="en-IN" sz="11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1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बढ़</a:t>
            </a:r>
            <a:r>
              <a:rPr lang="en-IN" sz="11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1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गया</a:t>
            </a:r>
            <a:r>
              <a:rPr lang="en-IN" sz="11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1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है</a:t>
            </a:r>
            <a:r>
              <a:rPr lang="en-IN" sz="11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583680" y="3176709"/>
            <a:ext cx="4846320" cy="1417320"/>
          </a:xfrm>
          <a:prstGeom prst="roundRect">
            <a:avLst>
              <a:gd name="adj" fmla="val 3871"/>
            </a:avLst>
          </a:prstGeom>
          <a:solidFill>
            <a:srgbClr val="EAF0FB"/>
          </a:solidFill>
          <a:ln/>
        </p:spPr>
      </p:sp>
      <p:sp>
        <p:nvSpPr>
          <p:cNvPr id="20" name="Text 17"/>
          <p:cNvSpPr/>
          <p:nvPr/>
        </p:nvSpPr>
        <p:spPr>
          <a:xfrm>
            <a:off x="6720840" y="3313037"/>
            <a:ext cx="45720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0000"/>
              </a:lnSpc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passage(76 tokens):</a:t>
            </a:r>
            <a:r>
              <a:rPr lang="en-US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विश्व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स्वास्थ्य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संगठन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ने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बताया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है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कि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बर्ड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फ़्लू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के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एच5एन1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वायरस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से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मौत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के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ताज़ा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मामले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अज़रबैजान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में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सामने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आए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हैं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।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अज़रबैजान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में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फ़रवरी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के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बाद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से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बर्ड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फ़्लू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के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लक्षण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वाले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11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मामलों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में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से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5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लोगों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की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मौत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हो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चुकी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है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।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अमरीकी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वैज्ञानिकों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ने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पुष्टि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की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है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कि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एच5एन1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वायरस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दो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अलग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विषाणुओं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में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बदल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चुका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है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,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जिससे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मनुष्यों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के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लिए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खतरा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बढ़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गया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IN" sz="10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है</a:t>
            </a:r>
            <a:r>
              <a:rPr lang="en-IN" sz="1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।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629400" y="5073257"/>
            <a:ext cx="4846320" cy="105156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</p:sp>
      <p:sp>
        <p:nvSpPr>
          <p:cNvPr id="22" name="Text 19"/>
          <p:cNvSpPr/>
          <p:nvPr/>
        </p:nvSpPr>
        <p:spPr>
          <a:xfrm>
            <a:off x="6835140" y="5256137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0000"/>
              </a:lnSpc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(44tokens 42.5 compression ratio)</a:t>
            </a:r>
            <a:r>
              <a:rPr lang="en-US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IN" sz="1000" b="1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विश्व</a:t>
            </a:r>
            <a:r>
              <a:rPr lang="en-IN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</a:t>
            </a:r>
            <a:r>
              <a:rPr lang="en-IN" sz="1000" b="1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स्वास्थ्य</a:t>
            </a:r>
            <a:r>
              <a:rPr lang="en-IN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</a:t>
            </a:r>
            <a:r>
              <a:rPr lang="en-IN" sz="1000" b="1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संगठन</a:t>
            </a:r>
            <a:r>
              <a:rPr lang="en-IN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</a:t>
            </a:r>
            <a:r>
              <a:rPr lang="en-IN" sz="1000" b="1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बर्ड</a:t>
            </a:r>
            <a:r>
              <a:rPr lang="en-IN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</a:t>
            </a:r>
            <a:r>
              <a:rPr lang="en-IN" sz="1000" b="1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फ़्लू</a:t>
            </a:r>
            <a:r>
              <a:rPr lang="en-IN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एच5एन1 </a:t>
            </a:r>
            <a:r>
              <a:rPr lang="en-IN" sz="1000" b="1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वायरस</a:t>
            </a:r>
            <a:r>
              <a:rPr lang="en-IN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</a:t>
            </a:r>
            <a:r>
              <a:rPr lang="en-IN" sz="1000" b="1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अमरीकी</a:t>
            </a:r>
            <a:r>
              <a:rPr lang="en-IN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</a:t>
            </a:r>
            <a:r>
              <a:rPr lang="en-IN" sz="1000" b="1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वैज्ञानिकों</a:t>
            </a:r>
            <a:r>
              <a:rPr lang="en-IN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</a:t>
            </a:r>
            <a:r>
              <a:rPr lang="en-IN" sz="1000" b="1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ने</a:t>
            </a:r>
            <a:r>
              <a:rPr lang="en-IN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</a:t>
            </a:r>
            <a:r>
              <a:rPr lang="en-IN" sz="1000" b="1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पुष्टि</a:t>
            </a:r>
            <a:r>
              <a:rPr lang="en-IN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</a:t>
            </a:r>
            <a:r>
              <a:rPr lang="en-IN" sz="1000" b="1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की</a:t>
            </a:r>
            <a:r>
              <a:rPr lang="en-IN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एच5एन1 </a:t>
            </a:r>
            <a:r>
              <a:rPr lang="en-IN" sz="1000" b="1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वायरस</a:t>
            </a:r>
            <a:r>
              <a:rPr lang="en-IN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</a:t>
            </a:r>
            <a:r>
              <a:rPr lang="en-IN" sz="1000" b="1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दो</a:t>
            </a:r>
            <a:r>
              <a:rPr lang="en-IN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</a:t>
            </a:r>
            <a:r>
              <a:rPr lang="en-IN" sz="1000" b="1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विषाणुओं</a:t>
            </a:r>
            <a:r>
              <a:rPr lang="en-IN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</a:t>
            </a:r>
            <a:r>
              <a:rPr lang="en-IN" sz="1000" b="1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बदल</a:t>
            </a:r>
            <a:r>
              <a:rPr lang="en-IN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</a:t>
            </a:r>
            <a:r>
              <a:rPr lang="en-IN" sz="1000" b="1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चुका</a:t>
            </a:r>
            <a:r>
              <a:rPr lang="en-IN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</a:t>
            </a:r>
            <a:r>
              <a:rPr lang="en-IN" sz="1000" b="1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मनुष्यों</a:t>
            </a:r>
            <a:r>
              <a:rPr lang="en-IN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</a:t>
            </a:r>
            <a:r>
              <a:rPr lang="en-IN" sz="1000" b="1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खतरा</a:t>
            </a:r>
            <a:r>
              <a:rPr lang="en-IN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</a:t>
            </a:r>
            <a:r>
              <a:rPr lang="en-IN" sz="1000" b="1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बढ़</a:t>
            </a:r>
            <a:r>
              <a:rPr lang="en-IN" sz="1000" b="1" spc="50" dirty="0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 </a:t>
            </a:r>
            <a:r>
              <a:rPr lang="en-IN" sz="1000" b="1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गया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583680" y="53492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Indic-LLMLingua  |  Milestone 4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958</Words>
  <Application>Microsoft Office PowerPoint</Application>
  <PresentationFormat>Widescreen</PresentationFormat>
  <Paragraphs>162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Hitesh Binjrawat</cp:lastModifiedBy>
  <cp:revision>3</cp:revision>
  <dcterms:created xsi:type="dcterms:W3CDTF">2026-08-01T11:53:36Z</dcterms:created>
  <dcterms:modified xsi:type="dcterms:W3CDTF">2026-08-01T15:58:48Z</dcterms:modified>
</cp:coreProperties>
</file>